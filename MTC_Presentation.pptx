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MTC Chain - 블록체인 기반 강재 자재 이력 시스템을 발표하겠습니다. 임시우입니다.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강재(철강)에는 자재 증명서인 밀시트가 따라다닙니다. 제가 4년간 자동화 설비를 설계하면서 매일 보던 문서인데요, 종이와 PDF로 유통되다 보니 위조·변조가 발생해도 사후 검증이 거의 불가능합니다. 제강사·가공사·통합사를 거치는 과정에서 사고가 나면 서로 책임을 떠넘기기도 쉽습니다. 작년에도 H제강의 시험성적서 조작으로 KS 인증이 취소되는 사건이 있었습니다. 반복되고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문제, 왜 회사 서버로는 못 풀까요? 세 가지입니다. 첫째, 데이터 소유자가 곧 의심받는 입장입니다. 제강사가 자기 서버에 저장한 데이터를 누가 믿겠습니까. 둘째, 데이터가 회사들 사이를 이동합니다. 셋째, 보존 기간이 단일 회사 수명을 넘습니다. 설비는 20~30년 쓰는데 그동안 회사는 망할 수도 있습니다. 블록체인은 데이터의 봉인, 타임스탬프, 그리고 단일 운영자 의존을 제거합니다. 데이터 자체가 아니라 PDF 해시와 최소 메타데이터만 온체인에 저장하고, 원본은 IPFS에 둡니다.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시스템은 9개 화면, 5개 핵심 기능으로 구성됩니다. 발행, 분할, 조합, 이전, 사용 매핑. 그리고 조회 화면에서 이력 추적과 진본 검증이 가능합니다. 아키텍처는 3계층입니다. 진본성 증거는 Sepolia 스마트 컨트랙트가 봉인하고, 검색용 메타데이터는 Cloudflare 서버가, PDF 원본은 IPFS가 분산 저장합니다.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지금부터 2분간 실제 데모 영상을 보시겠습니다. 발행, 조회, 해시 검증, 이력 트리, 그리고 마지막에 위조 시연까지 보여드립니다.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프로젝트를 Claude Code와 함께 진행했습니다. 노하우 세 가지 공유드립니다. 첫째, PRD를 먼저 썼습니다. 화면 9개, 컨트랙트 함수, 데이터 모델을 마크다운 한 문서로 정리한 뒤 AI에 작업 단위로 던졌습니다. 둘째, 디자인 시안을 코드보다 먼저 확정했습니다. Claude Design으로 토큰을 만들고, Claude Code에 그 토큰값을 명시적으로 전달했습니다. 셋째, AI의 경고를 무시하지 않았습니다. 개인키가 컨텍스트에 노출됐다는 경고에 Sepolia 전용 새 지갑을 만들어 진행했습니다. 바이브 코딩에서도 보안 위생은 본인이 챙겨야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MTC Chain은 강재 자재 이력의 진본성·추적성·책임성을 블록체인으로 보장합니다. 실제 Sepolia 테스트넷에 컨트랙트를 배포했고, 데모 사이트와 코드 모두 공개되어 있습니다.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377440"/>
            <a:ext cx="9144000" cy="1280160"/>
          </a:xfrm>
          <a:prstGeom prst="rect">
            <a:avLst/>
          </a:prstGeom>
          <a:noFill/>
          <a:ln/>
        </p:spPr>
        <p:txBody>
          <a:bodyPr wrap="square" rtlCol="0" anchor="ctr"/>
          <a:lstStyle/>
          <a:p>
            <a:pPr indent="0" marL="0">
              <a:buNone/>
            </a:pPr>
            <a:r>
              <a:rPr lang="en-US" sz="7200" b="1" spc="-100" kern="0" dirty="0">
                <a:solidFill>
                  <a:srgbClr val="0A0A0B"/>
                </a:solidFill>
                <a:latin typeface="Malgun Gothic" pitchFamily="34" charset="0"/>
                <a:ea typeface="Malgun Gothic" pitchFamily="34" charset="-122"/>
                <a:cs typeface="Malgun Gothic" pitchFamily="34" charset="-120"/>
              </a:rPr>
              <a:t>MTC Chain</a:t>
            </a:r>
            <a:endParaRPr lang="en-US" sz="7200" dirty="0"/>
          </a:p>
        </p:txBody>
      </p:sp>
      <p:sp>
        <p:nvSpPr>
          <p:cNvPr id="3" name="Text 1"/>
          <p:cNvSpPr/>
          <p:nvPr/>
        </p:nvSpPr>
        <p:spPr>
          <a:xfrm>
            <a:off x="731520" y="3566160"/>
            <a:ext cx="9144000" cy="457200"/>
          </a:xfrm>
          <a:prstGeom prst="rect">
            <a:avLst/>
          </a:prstGeom>
          <a:noFill/>
          <a:ln/>
        </p:spPr>
        <p:txBody>
          <a:bodyPr wrap="square" rtlCol="0" anchor="ctr"/>
          <a:lstStyle/>
          <a:p>
            <a:pPr indent="0" marL="0">
              <a:buNone/>
            </a:pPr>
            <a:r>
              <a:rPr lang="en-US" sz="2200" dirty="0">
                <a:solidFill>
                  <a:srgbClr val="4B5160"/>
                </a:solidFill>
                <a:latin typeface="Malgun Gothic" pitchFamily="34" charset="0"/>
                <a:ea typeface="Malgun Gothic" pitchFamily="34" charset="-122"/>
                <a:cs typeface="Malgun Gothic" pitchFamily="34" charset="-120"/>
              </a:rPr>
              <a:t>블록체인 기반 강재 자재 이력 시스템</a:t>
            </a:r>
            <a:endParaRPr lang="en-US" sz="2200" dirty="0"/>
          </a:p>
        </p:txBody>
      </p:sp>
      <p:sp>
        <p:nvSpPr>
          <p:cNvPr id="4" name="Text 2"/>
          <p:cNvSpPr/>
          <p:nvPr/>
        </p:nvSpPr>
        <p:spPr>
          <a:xfrm>
            <a:off x="731520" y="4023360"/>
            <a:ext cx="9144000" cy="365760"/>
          </a:xfrm>
          <a:prstGeom prst="rect">
            <a:avLst/>
          </a:prstGeom>
          <a:noFill/>
          <a:ln/>
        </p:spPr>
        <p:txBody>
          <a:bodyPr wrap="square" rtlCol="0" anchor="ctr"/>
          <a:lstStyle/>
          <a:p>
            <a:pPr indent="0" marL="0">
              <a:buNone/>
            </a:pPr>
            <a:r>
              <a:rPr lang="en-US" sz="1400" i="1" dirty="0">
                <a:solidFill>
                  <a:srgbClr val="80868F"/>
                </a:solidFill>
                <a:latin typeface="Consolas" pitchFamily="34" charset="0"/>
                <a:ea typeface="Consolas" pitchFamily="34" charset="-122"/>
                <a:cs typeface="Consolas" pitchFamily="34" charset="-120"/>
              </a:rPr>
              <a:t>Mill Test Certificate on Blockchain</a:t>
            </a:r>
            <a:endParaRPr lang="en-US" sz="1400" dirty="0"/>
          </a:p>
        </p:txBody>
      </p:sp>
      <p:sp>
        <p:nvSpPr>
          <p:cNvPr id="5" name="Shape 3"/>
          <p:cNvSpPr/>
          <p:nvPr/>
        </p:nvSpPr>
        <p:spPr>
          <a:xfrm>
            <a:off x="731520" y="4754880"/>
            <a:ext cx="1371600" cy="0"/>
          </a:xfrm>
          <a:prstGeom prst="line">
            <a:avLst/>
          </a:prstGeom>
          <a:noFill/>
          <a:ln w="25400">
            <a:solidFill>
              <a:srgbClr val="0A0A0B"/>
            </a:solidFill>
            <a:prstDash val="solid"/>
          </a:ln>
        </p:spPr>
      </p:sp>
      <p:sp>
        <p:nvSpPr>
          <p:cNvPr id="6" name="Text 4"/>
          <p:cNvSpPr/>
          <p:nvPr/>
        </p:nvSpPr>
        <p:spPr>
          <a:xfrm>
            <a:off x="731520" y="4937760"/>
            <a:ext cx="7315200" cy="1097280"/>
          </a:xfrm>
          <a:prstGeom prst="rect">
            <a:avLst/>
          </a:prstGeom>
          <a:noFill/>
          <a:ln/>
        </p:spPr>
        <p:txBody>
          <a:bodyPr wrap="square" rtlCol="0" anchor="ctr"/>
          <a:lstStyle/>
          <a:p>
            <a:pPr indent="0" marL="0">
              <a:spcAft>
                <a:spcPts val="300"/>
              </a:spcAft>
              <a:buNone/>
            </a:pPr>
            <a:r>
              <a:rPr lang="en-US" sz="1400" b="1" dirty="0">
                <a:solidFill>
                  <a:srgbClr val="0A0A0B"/>
                </a:solidFill>
                <a:latin typeface="Malgun Gothic" pitchFamily="34" charset="0"/>
                <a:ea typeface="Malgun Gothic" pitchFamily="34" charset="-122"/>
                <a:cs typeface="Malgun Gothic" pitchFamily="34" charset="-120"/>
              </a:rPr>
              <a:t>임시우  Im Si Woo</a:t>
            </a:r>
            <a:endParaRPr lang="en-US" sz="1400" dirty="0"/>
          </a:p>
          <a:p>
            <a:pPr indent="0" marL="0">
              <a:spcAft>
                <a:spcPts val="300"/>
              </a:spcAft>
              <a:buNone/>
            </a:pPr>
            <a:r>
              <a:rPr lang="en-US" sz="1100" dirty="0">
                <a:solidFill>
                  <a:srgbClr val="4B5160"/>
                </a:solidFill>
                <a:latin typeface="Malgun Gothic" pitchFamily="34" charset="0"/>
                <a:ea typeface="Malgun Gothic" pitchFamily="34" charset="-122"/>
                <a:cs typeface="Malgun Gothic" pitchFamily="34" charset="-120"/>
              </a:rPr>
              <a:t>Department of Computer Science, Hoseo University</a:t>
            </a:r>
            <a:endParaRPr lang="en-US" sz="1400" dirty="0"/>
          </a:p>
          <a:p>
            <a:pPr indent="0" marL="0">
              <a:spcAft>
                <a:spcPts val="300"/>
              </a:spcAft>
              <a:buNone/>
            </a:pPr>
            <a:r>
              <a:rPr lang="en-US" sz="1100" dirty="0">
                <a:solidFill>
                  <a:srgbClr val="4B5160"/>
                </a:solidFill>
                <a:latin typeface="Malgun Gothic" pitchFamily="34" charset="0"/>
                <a:ea typeface="Malgun Gothic" pitchFamily="34" charset="-122"/>
                <a:cs typeface="Malgun Gothic" pitchFamily="34" charset="-120"/>
              </a:rPr>
              <a:t>Student ID  20233530</a:t>
            </a:r>
            <a:endParaRPr lang="en-US" sz="1400" dirty="0"/>
          </a:p>
        </p:txBody>
      </p:sp>
      <p:sp>
        <p:nvSpPr>
          <p:cNvPr id="7" name="Shape 5"/>
          <p:cNvSpPr/>
          <p:nvPr/>
        </p:nvSpPr>
        <p:spPr>
          <a:xfrm>
            <a:off x="8686800" y="1371600"/>
            <a:ext cx="292608" cy="292608"/>
          </a:xfrm>
          <a:prstGeom prst="rect">
            <a:avLst/>
          </a:prstGeom>
          <a:solidFill>
            <a:srgbClr val="FFFFFF"/>
          </a:solidFill>
          <a:ln w="6350">
            <a:solidFill>
              <a:srgbClr val="E1E2E5"/>
            </a:solidFill>
            <a:prstDash val="solid"/>
          </a:ln>
        </p:spPr>
      </p:sp>
      <p:sp>
        <p:nvSpPr>
          <p:cNvPr id="8" name="Shape 6"/>
          <p:cNvSpPr/>
          <p:nvPr/>
        </p:nvSpPr>
        <p:spPr>
          <a:xfrm>
            <a:off x="9034272" y="1371600"/>
            <a:ext cx="292608" cy="292608"/>
          </a:xfrm>
          <a:prstGeom prst="rect">
            <a:avLst/>
          </a:prstGeom>
          <a:solidFill>
            <a:srgbClr val="FFFFFF"/>
          </a:solidFill>
          <a:ln w="6350">
            <a:solidFill>
              <a:srgbClr val="E1E2E5"/>
            </a:solidFill>
            <a:prstDash val="solid"/>
          </a:ln>
        </p:spPr>
      </p:sp>
      <p:sp>
        <p:nvSpPr>
          <p:cNvPr id="9" name="Shape 7"/>
          <p:cNvSpPr/>
          <p:nvPr/>
        </p:nvSpPr>
        <p:spPr>
          <a:xfrm>
            <a:off x="9381744" y="1371600"/>
            <a:ext cx="292608" cy="292608"/>
          </a:xfrm>
          <a:prstGeom prst="rect">
            <a:avLst/>
          </a:prstGeom>
          <a:solidFill>
            <a:srgbClr val="FFFFFF"/>
          </a:solidFill>
          <a:ln w="6350">
            <a:solidFill>
              <a:srgbClr val="E1E2E5"/>
            </a:solidFill>
            <a:prstDash val="solid"/>
          </a:ln>
        </p:spPr>
      </p:sp>
      <p:sp>
        <p:nvSpPr>
          <p:cNvPr id="10" name="Shape 8"/>
          <p:cNvSpPr/>
          <p:nvPr/>
        </p:nvSpPr>
        <p:spPr>
          <a:xfrm>
            <a:off x="9729216" y="1371600"/>
            <a:ext cx="292608" cy="292608"/>
          </a:xfrm>
          <a:prstGeom prst="rect">
            <a:avLst/>
          </a:prstGeom>
          <a:solidFill>
            <a:srgbClr val="FFFFFF"/>
          </a:solidFill>
          <a:ln w="6350">
            <a:solidFill>
              <a:srgbClr val="E1E2E5"/>
            </a:solidFill>
            <a:prstDash val="solid"/>
          </a:ln>
        </p:spPr>
      </p:sp>
      <p:sp>
        <p:nvSpPr>
          <p:cNvPr id="11" name="Shape 9"/>
          <p:cNvSpPr/>
          <p:nvPr/>
        </p:nvSpPr>
        <p:spPr>
          <a:xfrm>
            <a:off x="10076688" y="1371600"/>
            <a:ext cx="292608" cy="292608"/>
          </a:xfrm>
          <a:prstGeom prst="rect">
            <a:avLst/>
          </a:prstGeom>
          <a:solidFill>
            <a:srgbClr val="FFFFFF"/>
          </a:solidFill>
          <a:ln w="6350">
            <a:solidFill>
              <a:srgbClr val="E1E2E5"/>
            </a:solidFill>
            <a:prstDash val="solid"/>
          </a:ln>
        </p:spPr>
      </p:sp>
      <p:sp>
        <p:nvSpPr>
          <p:cNvPr id="12" name="Shape 10"/>
          <p:cNvSpPr/>
          <p:nvPr/>
        </p:nvSpPr>
        <p:spPr>
          <a:xfrm>
            <a:off x="10424160" y="1371600"/>
            <a:ext cx="292608" cy="292608"/>
          </a:xfrm>
          <a:prstGeom prst="rect">
            <a:avLst/>
          </a:prstGeom>
          <a:solidFill>
            <a:srgbClr val="FFFFFF"/>
          </a:solidFill>
          <a:ln w="6350">
            <a:solidFill>
              <a:srgbClr val="E1E2E5"/>
            </a:solidFill>
            <a:prstDash val="solid"/>
          </a:ln>
        </p:spPr>
      </p:sp>
      <p:sp>
        <p:nvSpPr>
          <p:cNvPr id="13" name="Shape 11"/>
          <p:cNvSpPr/>
          <p:nvPr/>
        </p:nvSpPr>
        <p:spPr>
          <a:xfrm>
            <a:off x="10771632" y="1371600"/>
            <a:ext cx="292608" cy="292608"/>
          </a:xfrm>
          <a:prstGeom prst="rect">
            <a:avLst/>
          </a:prstGeom>
          <a:solidFill>
            <a:srgbClr val="FFFFFF"/>
          </a:solidFill>
          <a:ln w="6350">
            <a:solidFill>
              <a:srgbClr val="E1E2E5"/>
            </a:solidFill>
            <a:prstDash val="solid"/>
          </a:ln>
        </p:spPr>
      </p:sp>
      <p:sp>
        <p:nvSpPr>
          <p:cNvPr id="14" name="Shape 12"/>
          <p:cNvSpPr/>
          <p:nvPr/>
        </p:nvSpPr>
        <p:spPr>
          <a:xfrm>
            <a:off x="11119104" y="1371600"/>
            <a:ext cx="292608" cy="292608"/>
          </a:xfrm>
          <a:prstGeom prst="rect">
            <a:avLst/>
          </a:prstGeom>
          <a:solidFill>
            <a:srgbClr val="FFFFFF"/>
          </a:solidFill>
          <a:ln w="6350">
            <a:solidFill>
              <a:srgbClr val="E1E2E5"/>
            </a:solidFill>
            <a:prstDash val="solid"/>
          </a:ln>
        </p:spPr>
      </p:sp>
      <p:sp>
        <p:nvSpPr>
          <p:cNvPr id="15" name="Shape 13"/>
          <p:cNvSpPr/>
          <p:nvPr/>
        </p:nvSpPr>
        <p:spPr>
          <a:xfrm>
            <a:off x="8686800" y="1719072"/>
            <a:ext cx="292608" cy="292608"/>
          </a:xfrm>
          <a:prstGeom prst="rect">
            <a:avLst/>
          </a:prstGeom>
          <a:solidFill>
            <a:srgbClr val="FFFFFF"/>
          </a:solidFill>
          <a:ln w="6350">
            <a:solidFill>
              <a:srgbClr val="E1E2E5"/>
            </a:solidFill>
            <a:prstDash val="solid"/>
          </a:ln>
        </p:spPr>
      </p:sp>
      <p:sp>
        <p:nvSpPr>
          <p:cNvPr id="16" name="Shape 14"/>
          <p:cNvSpPr/>
          <p:nvPr/>
        </p:nvSpPr>
        <p:spPr>
          <a:xfrm>
            <a:off x="9034272" y="1719072"/>
            <a:ext cx="292608" cy="292608"/>
          </a:xfrm>
          <a:prstGeom prst="rect">
            <a:avLst/>
          </a:prstGeom>
          <a:solidFill>
            <a:srgbClr val="FFFFFF"/>
          </a:solidFill>
          <a:ln w="6350">
            <a:solidFill>
              <a:srgbClr val="E1E2E5"/>
            </a:solidFill>
            <a:prstDash val="solid"/>
          </a:ln>
        </p:spPr>
      </p:sp>
      <p:sp>
        <p:nvSpPr>
          <p:cNvPr id="17" name="Shape 15"/>
          <p:cNvSpPr/>
          <p:nvPr/>
        </p:nvSpPr>
        <p:spPr>
          <a:xfrm>
            <a:off x="9381744" y="1719072"/>
            <a:ext cx="292608" cy="292608"/>
          </a:xfrm>
          <a:prstGeom prst="rect">
            <a:avLst/>
          </a:prstGeom>
          <a:solidFill>
            <a:srgbClr val="FFFFFF"/>
          </a:solidFill>
          <a:ln w="6350">
            <a:solidFill>
              <a:srgbClr val="E1E2E5"/>
            </a:solidFill>
            <a:prstDash val="solid"/>
          </a:ln>
        </p:spPr>
      </p:sp>
      <p:sp>
        <p:nvSpPr>
          <p:cNvPr id="18" name="Shape 16"/>
          <p:cNvSpPr/>
          <p:nvPr/>
        </p:nvSpPr>
        <p:spPr>
          <a:xfrm>
            <a:off x="9729216" y="1719072"/>
            <a:ext cx="292608" cy="292608"/>
          </a:xfrm>
          <a:prstGeom prst="rect">
            <a:avLst/>
          </a:prstGeom>
          <a:solidFill>
            <a:srgbClr val="FFFFFF"/>
          </a:solidFill>
          <a:ln w="6350">
            <a:solidFill>
              <a:srgbClr val="E1E2E5"/>
            </a:solidFill>
            <a:prstDash val="solid"/>
          </a:ln>
        </p:spPr>
      </p:sp>
      <p:sp>
        <p:nvSpPr>
          <p:cNvPr id="19" name="Shape 17"/>
          <p:cNvSpPr/>
          <p:nvPr/>
        </p:nvSpPr>
        <p:spPr>
          <a:xfrm>
            <a:off x="10076688" y="1719072"/>
            <a:ext cx="292608" cy="292608"/>
          </a:xfrm>
          <a:prstGeom prst="rect">
            <a:avLst/>
          </a:prstGeom>
          <a:solidFill>
            <a:srgbClr val="FFFFFF"/>
          </a:solidFill>
          <a:ln w="6350">
            <a:solidFill>
              <a:srgbClr val="E1E2E5"/>
            </a:solidFill>
            <a:prstDash val="solid"/>
          </a:ln>
        </p:spPr>
      </p:sp>
      <p:sp>
        <p:nvSpPr>
          <p:cNvPr id="20" name="Shape 18"/>
          <p:cNvSpPr/>
          <p:nvPr/>
        </p:nvSpPr>
        <p:spPr>
          <a:xfrm>
            <a:off x="10424160" y="1719072"/>
            <a:ext cx="292608" cy="292608"/>
          </a:xfrm>
          <a:prstGeom prst="rect">
            <a:avLst/>
          </a:prstGeom>
          <a:solidFill>
            <a:srgbClr val="FFFFFF"/>
          </a:solidFill>
          <a:ln w="6350">
            <a:solidFill>
              <a:srgbClr val="E1E2E5"/>
            </a:solidFill>
            <a:prstDash val="solid"/>
          </a:ln>
        </p:spPr>
      </p:sp>
      <p:sp>
        <p:nvSpPr>
          <p:cNvPr id="21" name="Shape 19"/>
          <p:cNvSpPr/>
          <p:nvPr/>
        </p:nvSpPr>
        <p:spPr>
          <a:xfrm>
            <a:off x="10771632" y="1719072"/>
            <a:ext cx="292608" cy="292608"/>
          </a:xfrm>
          <a:prstGeom prst="rect">
            <a:avLst/>
          </a:prstGeom>
          <a:solidFill>
            <a:srgbClr val="FFFFFF"/>
          </a:solidFill>
          <a:ln w="6350">
            <a:solidFill>
              <a:srgbClr val="E1E2E5"/>
            </a:solidFill>
            <a:prstDash val="solid"/>
          </a:ln>
        </p:spPr>
      </p:sp>
      <p:sp>
        <p:nvSpPr>
          <p:cNvPr id="22" name="Shape 20"/>
          <p:cNvSpPr/>
          <p:nvPr/>
        </p:nvSpPr>
        <p:spPr>
          <a:xfrm>
            <a:off x="11119104" y="1719072"/>
            <a:ext cx="292608" cy="292608"/>
          </a:xfrm>
          <a:prstGeom prst="rect">
            <a:avLst/>
          </a:prstGeom>
          <a:solidFill>
            <a:srgbClr val="FFFFFF"/>
          </a:solidFill>
          <a:ln w="6350">
            <a:solidFill>
              <a:srgbClr val="E1E2E5"/>
            </a:solidFill>
            <a:prstDash val="solid"/>
          </a:ln>
        </p:spPr>
      </p:sp>
      <p:sp>
        <p:nvSpPr>
          <p:cNvPr id="23" name="Shape 21"/>
          <p:cNvSpPr/>
          <p:nvPr/>
        </p:nvSpPr>
        <p:spPr>
          <a:xfrm>
            <a:off x="8686800" y="2066544"/>
            <a:ext cx="292608" cy="292608"/>
          </a:xfrm>
          <a:prstGeom prst="rect">
            <a:avLst/>
          </a:prstGeom>
          <a:solidFill>
            <a:srgbClr val="FFFFFF"/>
          </a:solidFill>
          <a:ln w="6350">
            <a:solidFill>
              <a:srgbClr val="E1E2E5"/>
            </a:solidFill>
            <a:prstDash val="solid"/>
          </a:ln>
        </p:spPr>
      </p:sp>
      <p:sp>
        <p:nvSpPr>
          <p:cNvPr id="24" name="Shape 22"/>
          <p:cNvSpPr/>
          <p:nvPr/>
        </p:nvSpPr>
        <p:spPr>
          <a:xfrm>
            <a:off x="9034272" y="2066544"/>
            <a:ext cx="292608" cy="292608"/>
          </a:xfrm>
          <a:prstGeom prst="rect">
            <a:avLst/>
          </a:prstGeom>
          <a:solidFill>
            <a:srgbClr val="FFFFFF"/>
          </a:solidFill>
          <a:ln w="6350">
            <a:solidFill>
              <a:srgbClr val="E1E2E5"/>
            </a:solidFill>
            <a:prstDash val="solid"/>
          </a:ln>
        </p:spPr>
      </p:sp>
      <p:sp>
        <p:nvSpPr>
          <p:cNvPr id="25" name="Shape 23"/>
          <p:cNvSpPr/>
          <p:nvPr/>
        </p:nvSpPr>
        <p:spPr>
          <a:xfrm>
            <a:off x="9381744" y="2066544"/>
            <a:ext cx="292608" cy="292608"/>
          </a:xfrm>
          <a:prstGeom prst="rect">
            <a:avLst/>
          </a:prstGeom>
          <a:solidFill>
            <a:srgbClr val="0A0A0B"/>
          </a:solidFill>
          <a:ln w="6350">
            <a:solidFill>
              <a:srgbClr val="0A0A0B"/>
            </a:solidFill>
            <a:prstDash val="solid"/>
          </a:ln>
        </p:spPr>
      </p:sp>
      <p:sp>
        <p:nvSpPr>
          <p:cNvPr id="26" name="Shape 24"/>
          <p:cNvSpPr/>
          <p:nvPr/>
        </p:nvSpPr>
        <p:spPr>
          <a:xfrm>
            <a:off x="9729216" y="2066544"/>
            <a:ext cx="292608" cy="292608"/>
          </a:xfrm>
          <a:prstGeom prst="rect">
            <a:avLst/>
          </a:prstGeom>
          <a:solidFill>
            <a:srgbClr val="0A0A0B"/>
          </a:solidFill>
          <a:ln w="6350">
            <a:solidFill>
              <a:srgbClr val="0A0A0B"/>
            </a:solidFill>
            <a:prstDash val="solid"/>
          </a:ln>
        </p:spPr>
      </p:sp>
      <p:sp>
        <p:nvSpPr>
          <p:cNvPr id="27" name="Shape 25"/>
          <p:cNvSpPr/>
          <p:nvPr/>
        </p:nvSpPr>
        <p:spPr>
          <a:xfrm>
            <a:off x="10076688" y="2066544"/>
            <a:ext cx="292608" cy="292608"/>
          </a:xfrm>
          <a:prstGeom prst="rect">
            <a:avLst/>
          </a:prstGeom>
          <a:solidFill>
            <a:srgbClr val="FFFFFF"/>
          </a:solidFill>
          <a:ln w="6350">
            <a:solidFill>
              <a:srgbClr val="E1E2E5"/>
            </a:solidFill>
            <a:prstDash val="solid"/>
          </a:ln>
        </p:spPr>
      </p:sp>
      <p:sp>
        <p:nvSpPr>
          <p:cNvPr id="28" name="Shape 26"/>
          <p:cNvSpPr/>
          <p:nvPr/>
        </p:nvSpPr>
        <p:spPr>
          <a:xfrm>
            <a:off x="10424160" y="2066544"/>
            <a:ext cx="292608" cy="292608"/>
          </a:xfrm>
          <a:prstGeom prst="rect">
            <a:avLst/>
          </a:prstGeom>
          <a:solidFill>
            <a:srgbClr val="FFFFFF"/>
          </a:solidFill>
          <a:ln w="6350">
            <a:solidFill>
              <a:srgbClr val="E1E2E5"/>
            </a:solidFill>
            <a:prstDash val="solid"/>
          </a:ln>
        </p:spPr>
      </p:sp>
      <p:sp>
        <p:nvSpPr>
          <p:cNvPr id="29" name="Shape 27"/>
          <p:cNvSpPr/>
          <p:nvPr/>
        </p:nvSpPr>
        <p:spPr>
          <a:xfrm>
            <a:off x="10771632" y="2066544"/>
            <a:ext cx="292608" cy="292608"/>
          </a:xfrm>
          <a:prstGeom prst="rect">
            <a:avLst/>
          </a:prstGeom>
          <a:solidFill>
            <a:srgbClr val="FFFFFF"/>
          </a:solidFill>
          <a:ln w="6350">
            <a:solidFill>
              <a:srgbClr val="E1E2E5"/>
            </a:solidFill>
            <a:prstDash val="solid"/>
          </a:ln>
        </p:spPr>
      </p:sp>
      <p:sp>
        <p:nvSpPr>
          <p:cNvPr id="30" name="Shape 28"/>
          <p:cNvSpPr/>
          <p:nvPr/>
        </p:nvSpPr>
        <p:spPr>
          <a:xfrm>
            <a:off x="11119104" y="2066544"/>
            <a:ext cx="292608" cy="292608"/>
          </a:xfrm>
          <a:prstGeom prst="rect">
            <a:avLst/>
          </a:prstGeom>
          <a:solidFill>
            <a:srgbClr val="FFFFFF"/>
          </a:solidFill>
          <a:ln w="6350">
            <a:solidFill>
              <a:srgbClr val="E1E2E5"/>
            </a:solidFill>
            <a:prstDash val="solid"/>
          </a:ln>
        </p:spPr>
      </p:sp>
      <p:sp>
        <p:nvSpPr>
          <p:cNvPr id="31" name="Shape 29"/>
          <p:cNvSpPr/>
          <p:nvPr/>
        </p:nvSpPr>
        <p:spPr>
          <a:xfrm>
            <a:off x="8686800" y="2414016"/>
            <a:ext cx="292608" cy="292608"/>
          </a:xfrm>
          <a:prstGeom prst="rect">
            <a:avLst/>
          </a:prstGeom>
          <a:solidFill>
            <a:srgbClr val="FFFFFF"/>
          </a:solidFill>
          <a:ln w="6350">
            <a:solidFill>
              <a:srgbClr val="E1E2E5"/>
            </a:solidFill>
            <a:prstDash val="solid"/>
          </a:ln>
        </p:spPr>
      </p:sp>
      <p:sp>
        <p:nvSpPr>
          <p:cNvPr id="32" name="Shape 30"/>
          <p:cNvSpPr/>
          <p:nvPr/>
        </p:nvSpPr>
        <p:spPr>
          <a:xfrm>
            <a:off x="9034272" y="2414016"/>
            <a:ext cx="292608" cy="292608"/>
          </a:xfrm>
          <a:prstGeom prst="rect">
            <a:avLst/>
          </a:prstGeom>
          <a:solidFill>
            <a:srgbClr val="FFFFFF"/>
          </a:solidFill>
          <a:ln w="6350">
            <a:solidFill>
              <a:srgbClr val="E1E2E5"/>
            </a:solidFill>
            <a:prstDash val="solid"/>
          </a:ln>
        </p:spPr>
      </p:sp>
      <p:sp>
        <p:nvSpPr>
          <p:cNvPr id="33" name="Shape 31"/>
          <p:cNvSpPr/>
          <p:nvPr/>
        </p:nvSpPr>
        <p:spPr>
          <a:xfrm>
            <a:off x="9381744" y="2414016"/>
            <a:ext cx="292608" cy="292608"/>
          </a:xfrm>
          <a:prstGeom prst="rect">
            <a:avLst/>
          </a:prstGeom>
          <a:solidFill>
            <a:srgbClr val="0A0A0B"/>
          </a:solidFill>
          <a:ln w="6350">
            <a:solidFill>
              <a:srgbClr val="0A0A0B"/>
            </a:solidFill>
            <a:prstDash val="solid"/>
          </a:ln>
        </p:spPr>
      </p:sp>
      <p:sp>
        <p:nvSpPr>
          <p:cNvPr id="34" name="Shape 32"/>
          <p:cNvSpPr/>
          <p:nvPr/>
        </p:nvSpPr>
        <p:spPr>
          <a:xfrm>
            <a:off x="9729216" y="2414016"/>
            <a:ext cx="292608" cy="292608"/>
          </a:xfrm>
          <a:prstGeom prst="rect">
            <a:avLst/>
          </a:prstGeom>
          <a:solidFill>
            <a:srgbClr val="0A0A0B"/>
          </a:solidFill>
          <a:ln w="6350">
            <a:solidFill>
              <a:srgbClr val="0A0A0B"/>
            </a:solidFill>
            <a:prstDash val="solid"/>
          </a:ln>
        </p:spPr>
      </p:sp>
      <p:sp>
        <p:nvSpPr>
          <p:cNvPr id="35" name="Shape 33"/>
          <p:cNvSpPr/>
          <p:nvPr/>
        </p:nvSpPr>
        <p:spPr>
          <a:xfrm>
            <a:off x="10076688" y="2414016"/>
            <a:ext cx="292608" cy="292608"/>
          </a:xfrm>
          <a:prstGeom prst="rect">
            <a:avLst/>
          </a:prstGeom>
          <a:solidFill>
            <a:srgbClr val="FFFFFF"/>
          </a:solidFill>
          <a:ln w="6350">
            <a:solidFill>
              <a:srgbClr val="E1E2E5"/>
            </a:solidFill>
            <a:prstDash val="solid"/>
          </a:ln>
        </p:spPr>
      </p:sp>
      <p:sp>
        <p:nvSpPr>
          <p:cNvPr id="36" name="Shape 34"/>
          <p:cNvSpPr/>
          <p:nvPr/>
        </p:nvSpPr>
        <p:spPr>
          <a:xfrm>
            <a:off x="10424160" y="2414016"/>
            <a:ext cx="292608" cy="292608"/>
          </a:xfrm>
          <a:prstGeom prst="rect">
            <a:avLst/>
          </a:prstGeom>
          <a:solidFill>
            <a:srgbClr val="FFFFFF"/>
          </a:solidFill>
          <a:ln w="6350">
            <a:solidFill>
              <a:srgbClr val="E1E2E5"/>
            </a:solidFill>
            <a:prstDash val="solid"/>
          </a:ln>
        </p:spPr>
      </p:sp>
      <p:sp>
        <p:nvSpPr>
          <p:cNvPr id="37" name="Shape 35"/>
          <p:cNvSpPr/>
          <p:nvPr/>
        </p:nvSpPr>
        <p:spPr>
          <a:xfrm>
            <a:off x="10771632" y="2414016"/>
            <a:ext cx="292608" cy="292608"/>
          </a:xfrm>
          <a:prstGeom prst="rect">
            <a:avLst/>
          </a:prstGeom>
          <a:solidFill>
            <a:srgbClr val="FFFFFF"/>
          </a:solidFill>
          <a:ln w="6350">
            <a:solidFill>
              <a:srgbClr val="E1E2E5"/>
            </a:solidFill>
            <a:prstDash val="solid"/>
          </a:ln>
        </p:spPr>
      </p:sp>
      <p:sp>
        <p:nvSpPr>
          <p:cNvPr id="38" name="Shape 36"/>
          <p:cNvSpPr/>
          <p:nvPr/>
        </p:nvSpPr>
        <p:spPr>
          <a:xfrm>
            <a:off x="11119104" y="2414016"/>
            <a:ext cx="292608" cy="292608"/>
          </a:xfrm>
          <a:prstGeom prst="rect">
            <a:avLst/>
          </a:prstGeom>
          <a:solidFill>
            <a:srgbClr val="FFFFFF"/>
          </a:solidFill>
          <a:ln w="6350">
            <a:solidFill>
              <a:srgbClr val="E1E2E5"/>
            </a:solidFill>
            <a:prstDash val="solid"/>
          </a:ln>
        </p:spPr>
      </p:sp>
      <p:sp>
        <p:nvSpPr>
          <p:cNvPr id="39" name="Shape 37"/>
          <p:cNvSpPr/>
          <p:nvPr/>
        </p:nvSpPr>
        <p:spPr>
          <a:xfrm>
            <a:off x="8686800" y="2761488"/>
            <a:ext cx="292608" cy="292608"/>
          </a:xfrm>
          <a:prstGeom prst="rect">
            <a:avLst/>
          </a:prstGeom>
          <a:solidFill>
            <a:srgbClr val="FFFFFF"/>
          </a:solidFill>
          <a:ln w="6350">
            <a:solidFill>
              <a:srgbClr val="E1E2E5"/>
            </a:solidFill>
            <a:prstDash val="solid"/>
          </a:ln>
        </p:spPr>
      </p:sp>
      <p:sp>
        <p:nvSpPr>
          <p:cNvPr id="40" name="Shape 38"/>
          <p:cNvSpPr/>
          <p:nvPr/>
        </p:nvSpPr>
        <p:spPr>
          <a:xfrm>
            <a:off x="9034272" y="2761488"/>
            <a:ext cx="292608" cy="292608"/>
          </a:xfrm>
          <a:prstGeom prst="rect">
            <a:avLst/>
          </a:prstGeom>
          <a:solidFill>
            <a:srgbClr val="FFFFFF"/>
          </a:solidFill>
          <a:ln w="6350">
            <a:solidFill>
              <a:srgbClr val="E1E2E5"/>
            </a:solidFill>
            <a:prstDash val="solid"/>
          </a:ln>
        </p:spPr>
      </p:sp>
      <p:sp>
        <p:nvSpPr>
          <p:cNvPr id="41" name="Shape 39"/>
          <p:cNvSpPr/>
          <p:nvPr/>
        </p:nvSpPr>
        <p:spPr>
          <a:xfrm>
            <a:off x="9381744" y="2761488"/>
            <a:ext cx="292608" cy="292608"/>
          </a:xfrm>
          <a:prstGeom prst="rect">
            <a:avLst/>
          </a:prstGeom>
          <a:solidFill>
            <a:srgbClr val="FFFFFF"/>
          </a:solidFill>
          <a:ln w="6350">
            <a:solidFill>
              <a:srgbClr val="E1E2E5"/>
            </a:solidFill>
            <a:prstDash val="solid"/>
          </a:ln>
        </p:spPr>
      </p:sp>
      <p:sp>
        <p:nvSpPr>
          <p:cNvPr id="42" name="Shape 40"/>
          <p:cNvSpPr/>
          <p:nvPr/>
        </p:nvSpPr>
        <p:spPr>
          <a:xfrm>
            <a:off x="9729216" y="2761488"/>
            <a:ext cx="292608" cy="292608"/>
          </a:xfrm>
          <a:prstGeom prst="rect">
            <a:avLst/>
          </a:prstGeom>
          <a:solidFill>
            <a:srgbClr val="FFFFFF"/>
          </a:solidFill>
          <a:ln w="6350">
            <a:solidFill>
              <a:srgbClr val="E1E2E5"/>
            </a:solidFill>
            <a:prstDash val="solid"/>
          </a:ln>
        </p:spPr>
      </p:sp>
      <p:sp>
        <p:nvSpPr>
          <p:cNvPr id="43" name="Shape 41"/>
          <p:cNvSpPr/>
          <p:nvPr/>
        </p:nvSpPr>
        <p:spPr>
          <a:xfrm>
            <a:off x="10076688" y="2761488"/>
            <a:ext cx="292608" cy="292608"/>
          </a:xfrm>
          <a:prstGeom prst="rect">
            <a:avLst/>
          </a:prstGeom>
          <a:solidFill>
            <a:srgbClr val="FFFFFF"/>
          </a:solidFill>
          <a:ln w="6350">
            <a:solidFill>
              <a:srgbClr val="E1E2E5"/>
            </a:solidFill>
            <a:prstDash val="solid"/>
          </a:ln>
        </p:spPr>
      </p:sp>
      <p:sp>
        <p:nvSpPr>
          <p:cNvPr id="44" name="Shape 42"/>
          <p:cNvSpPr/>
          <p:nvPr/>
        </p:nvSpPr>
        <p:spPr>
          <a:xfrm>
            <a:off x="10424160" y="2761488"/>
            <a:ext cx="292608" cy="292608"/>
          </a:xfrm>
          <a:prstGeom prst="rect">
            <a:avLst/>
          </a:prstGeom>
          <a:solidFill>
            <a:srgbClr val="FFFFFF"/>
          </a:solidFill>
          <a:ln w="6350">
            <a:solidFill>
              <a:srgbClr val="E1E2E5"/>
            </a:solidFill>
            <a:prstDash val="solid"/>
          </a:ln>
        </p:spPr>
      </p:sp>
      <p:sp>
        <p:nvSpPr>
          <p:cNvPr id="45" name="Shape 43"/>
          <p:cNvSpPr/>
          <p:nvPr/>
        </p:nvSpPr>
        <p:spPr>
          <a:xfrm>
            <a:off x="10771632" y="2761488"/>
            <a:ext cx="292608" cy="292608"/>
          </a:xfrm>
          <a:prstGeom prst="rect">
            <a:avLst/>
          </a:prstGeom>
          <a:solidFill>
            <a:srgbClr val="FFFFFF"/>
          </a:solidFill>
          <a:ln w="6350">
            <a:solidFill>
              <a:srgbClr val="E1E2E5"/>
            </a:solidFill>
            <a:prstDash val="solid"/>
          </a:ln>
        </p:spPr>
      </p:sp>
      <p:sp>
        <p:nvSpPr>
          <p:cNvPr id="46" name="Shape 44"/>
          <p:cNvSpPr/>
          <p:nvPr/>
        </p:nvSpPr>
        <p:spPr>
          <a:xfrm>
            <a:off x="11119104" y="2761488"/>
            <a:ext cx="292608" cy="292608"/>
          </a:xfrm>
          <a:prstGeom prst="rect">
            <a:avLst/>
          </a:prstGeom>
          <a:solidFill>
            <a:srgbClr val="FFFFFF"/>
          </a:solidFill>
          <a:ln w="6350">
            <a:solidFill>
              <a:srgbClr val="E1E2E5"/>
            </a:solidFill>
            <a:prstDash val="solid"/>
          </a:ln>
        </p:spPr>
      </p:sp>
      <p:sp>
        <p:nvSpPr>
          <p:cNvPr id="47" name="Shape 45"/>
          <p:cNvSpPr/>
          <p:nvPr/>
        </p:nvSpPr>
        <p:spPr>
          <a:xfrm>
            <a:off x="8686800" y="3108960"/>
            <a:ext cx="292608" cy="292608"/>
          </a:xfrm>
          <a:prstGeom prst="rect">
            <a:avLst/>
          </a:prstGeom>
          <a:solidFill>
            <a:srgbClr val="FFFFFF"/>
          </a:solidFill>
          <a:ln w="6350">
            <a:solidFill>
              <a:srgbClr val="E1E2E5"/>
            </a:solidFill>
            <a:prstDash val="solid"/>
          </a:ln>
        </p:spPr>
      </p:sp>
      <p:sp>
        <p:nvSpPr>
          <p:cNvPr id="48" name="Shape 46"/>
          <p:cNvSpPr/>
          <p:nvPr/>
        </p:nvSpPr>
        <p:spPr>
          <a:xfrm>
            <a:off x="9034272" y="3108960"/>
            <a:ext cx="292608" cy="292608"/>
          </a:xfrm>
          <a:prstGeom prst="rect">
            <a:avLst/>
          </a:prstGeom>
          <a:solidFill>
            <a:srgbClr val="FFFFFF"/>
          </a:solidFill>
          <a:ln w="6350">
            <a:solidFill>
              <a:srgbClr val="E1E2E5"/>
            </a:solidFill>
            <a:prstDash val="solid"/>
          </a:ln>
        </p:spPr>
      </p:sp>
      <p:sp>
        <p:nvSpPr>
          <p:cNvPr id="49" name="Shape 47"/>
          <p:cNvSpPr/>
          <p:nvPr/>
        </p:nvSpPr>
        <p:spPr>
          <a:xfrm>
            <a:off x="9381744" y="3108960"/>
            <a:ext cx="292608" cy="292608"/>
          </a:xfrm>
          <a:prstGeom prst="rect">
            <a:avLst/>
          </a:prstGeom>
          <a:solidFill>
            <a:srgbClr val="FFFFFF"/>
          </a:solidFill>
          <a:ln w="6350">
            <a:solidFill>
              <a:srgbClr val="E1E2E5"/>
            </a:solidFill>
            <a:prstDash val="solid"/>
          </a:ln>
        </p:spPr>
      </p:sp>
      <p:sp>
        <p:nvSpPr>
          <p:cNvPr id="50" name="Shape 48"/>
          <p:cNvSpPr/>
          <p:nvPr/>
        </p:nvSpPr>
        <p:spPr>
          <a:xfrm>
            <a:off x="9729216" y="3108960"/>
            <a:ext cx="292608" cy="292608"/>
          </a:xfrm>
          <a:prstGeom prst="rect">
            <a:avLst/>
          </a:prstGeom>
          <a:solidFill>
            <a:srgbClr val="FFFFFF"/>
          </a:solidFill>
          <a:ln w="6350">
            <a:solidFill>
              <a:srgbClr val="E1E2E5"/>
            </a:solidFill>
            <a:prstDash val="solid"/>
          </a:ln>
        </p:spPr>
      </p:sp>
      <p:sp>
        <p:nvSpPr>
          <p:cNvPr id="51" name="Shape 49"/>
          <p:cNvSpPr/>
          <p:nvPr/>
        </p:nvSpPr>
        <p:spPr>
          <a:xfrm>
            <a:off x="10076688" y="3108960"/>
            <a:ext cx="292608" cy="292608"/>
          </a:xfrm>
          <a:prstGeom prst="rect">
            <a:avLst/>
          </a:prstGeom>
          <a:solidFill>
            <a:srgbClr val="0A0A0B"/>
          </a:solidFill>
          <a:ln w="6350">
            <a:solidFill>
              <a:srgbClr val="0A0A0B"/>
            </a:solidFill>
            <a:prstDash val="solid"/>
          </a:ln>
        </p:spPr>
      </p:sp>
      <p:sp>
        <p:nvSpPr>
          <p:cNvPr id="52" name="Shape 50"/>
          <p:cNvSpPr/>
          <p:nvPr/>
        </p:nvSpPr>
        <p:spPr>
          <a:xfrm>
            <a:off x="10424160" y="3108960"/>
            <a:ext cx="292608" cy="292608"/>
          </a:xfrm>
          <a:prstGeom prst="rect">
            <a:avLst/>
          </a:prstGeom>
          <a:solidFill>
            <a:srgbClr val="0A0A0B"/>
          </a:solidFill>
          <a:ln w="6350">
            <a:solidFill>
              <a:srgbClr val="0A0A0B"/>
            </a:solidFill>
            <a:prstDash val="solid"/>
          </a:ln>
        </p:spPr>
      </p:sp>
      <p:sp>
        <p:nvSpPr>
          <p:cNvPr id="53" name="Shape 51"/>
          <p:cNvSpPr/>
          <p:nvPr/>
        </p:nvSpPr>
        <p:spPr>
          <a:xfrm>
            <a:off x="10771632" y="3108960"/>
            <a:ext cx="292608" cy="292608"/>
          </a:xfrm>
          <a:prstGeom prst="rect">
            <a:avLst/>
          </a:prstGeom>
          <a:solidFill>
            <a:srgbClr val="FFFFFF"/>
          </a:solidFill>
          <a:ln w="6350">
            <a:solidFill>
              <a:srgbClr val="E1E2E5"/>
            </a:solidFill>
            <a:prstDash val="solid"/>
          </a:ln>
        </p:spPr>
      </p:sp>
      <p:sp>
        <p:nvSpPr>
          <p:cNvPr id="54" name="Shape 52"/>
          <p:cNvSpPr/>
          <p:nvPr/>
        </p:nvSpPr>
        <p:spPr>
          <a:xfrm>
            <a:off x="11119104" y="3108960"/>
            <a:ext cx="292608" cy="292608"/>
          </a:xfrm>
          <a:prstGeom prst="rect">
            <a:avLst/>
          </a:prstGeom>
          <a:solidFill>
            <a:srgbClr val="FFFFFF"/>
          </a:solidFill>
          <a:ln w="6350">
            <a:solidFill>
              <a:srgbClr val="E1E2E5"/>
            </a:solidFill>
            <a:prstDash val="solid"/>
          </a:ln>
        </p:spPr>
      </p:sp>
      <p:sp>
        <p:nvSpPr>
          <p:cNvPr id="55" name="Shape 53"/>
          <p:cNvSpPr/>
          <p:nvPr/>
        </p:nvSpPr>
        <p:spPr>
          <a:xfrm>
            <a:off x="8686800" y="3456432"/>
            <a:ext cx="292608" cy="292608"/>
          </a:xfrm>
          <a:prstGeom prst="rect">
            <a:avLst/>
          </a:prstGeom>
          <a:solidFill>
            <a:srgbClr val="FFFFFF"/>
          </a:solidFill>
          <a:ln w="6350">
            <a:solidFill>
              <a:srgbClr val="E1E2E5"/>
            </a:solidFill>
            <a:prstDash val="solid"/>
          </a:ln>
        </p:spPr>
      </p:sp>
      <p:sp>
        <p:nvSpPr>
          <p:cNvPr id="56" name="Shape 54"/>
          <p:cNvSpPr/>
          <p:nvPr/>
        </p:nvSpPr>
        <p:spPr>
          <a:xfrm>
            <a:off x="9034272" y="3456432"/>
            <a:ext cx="292608" cy="292608"/>
          </a:xfrm>
          <a:prstGeom prst="rect">
            <a:avLst/>
          </a:prstGeom>
          <a:solidFill>
            <a:srgbClr val="FFFFFF"/>
          </a:solidFill>
          <a:ln w="6350">
            <a:solidFill>
              <a:srgbClr val="E1E2E5"/>
            </a:solidFill>
            <a:prstDash val="solid"/>
          </a:ln>
        </p:spPr>
      </p:sp>
      <p:sp>
        <p:nvSpPr>
          <p:cNvPr id="57" name="Shape 55"/>
          <p:cNvSpPr/>
          <p:nvPr/>
        </p:nvSpPr>
        <p:spPr>
          <a:xfrm>
            <a:off x="9381744" y="3456432"/>
            <a:ext cx="292608" cy="292608"/>
          </a:xfrm>
          <a:prstGeom prst="rect">
            <a:avLst/>
          </a:prstGeom>
          <a:solidFill>
            <a:srgbClr val="FFFFFF"/>
          </a:solidFill>
          <a:ln w="6350">
            <a:solidFill>
              <a:srgbClr val="E1E2E5"/>
            </a:solidFill>
            <a:prstDash val="solid"/>
          </a:ln>
        </p:spPr>
      </p:sp>
      <p:sp>
        <p:nvSpPr>
          <p:cNvPr id="58" name="Shape 56"/>
          <p:cNvSpPr/>
          <p:nvPr/>
        </p:nvSpPr>
        <p:spPr>
          <a:xfrm>
            <a:off x="9729216" y="3456432"/>
            <a:ext cx="292608" cy="292608"/>
          </a:xfrm>
          <a:prstGeom prst="rect">
            <a:avLst/>
          </a:prstGeom>
          <a:solidFill>
            <a:srgbClr val="FFFFFF"/>
          </a:solidFill>
          <a:ln w="6350">
            <a:solidFill>
              <a:srgbClr val="E1E2E5"/>
            </a:solidFill>
            <a:prstDash val="solid"/>
          </a:ln>
        </p:spPr>
      </p:sp>
      <p:sp>
        <p:nvSpPr>
          <p:cNvPr id="59" name="Shape 57"/>
          <p:cNvSpPr/>
          <p:nvPr/>
        </p:nvSpPr>
        <p:spPr>
          <a:xfrm>
            <a:off x="10076688" y="3456432"/>
            <a:ext cx="292608" cy="292608"/>
          </a:xfrm>
          <a:prstGeom prst="rect">
            <a:avLst/>
          </a:prstGeom>
          <a:solidFill>
            <a:srgbClr val="0A0A0B"/>
          </a:solidFill>
          <a:ln w="6350">
            <a:solidFill>
              <a:srgbClr val="0A0A0B"/>
            </a:solidFill>
            <a:prstDash val="solid"/>
          </a:ln>
        </p:spPr>
      </p:sp>
      <p:sp>
        <p:nvSpPr>
          <p:cNvPr id="60" name="Shape 58"/>
          <p:cNvSpPr/>
          <p:nvPr/>
        </p:nvSpPr>
        <p:spPr>
          <a:xfrm>
            <a:off x="10424160" y="3456432"/>
            <a:ext cx="292608" cy="292608"/>
          </a:xfrm>
          <a:prstGeom prst="rect">
            <a:avLst/>
          </a:prstGeom>
          <a:solidFill>
            <a:srgbClr val="0A0A0B"/>
          </a:solidFill>
          <a:ln w="6350">
            <a:solidFill>
              <a:srgbClr val="0A0A0B"/>
            </a:solidFill>
            <a:prstDash val="solid"/>
          </a:ln>
        </p:spPr>
      </p:sp>
      <p:sp>
        <p:nvSpPr>
          <p:cNvPr id="61" name="Shape 59"/>
          <p:cNvSpPr/>
          <p:nvPr/>
        </p:nvSpPr>
        <p:spPr>
          <a:xfrm>
            <a:off x="10771632" y="3456432"/>
            <a:ext cx="292608" cy="292608"/>
          </a:xfrm>
          <a:prstGeom prst="rect">
            <a:avLst/>
          </a:prstGeom>
          <a:solidFill>
            <a:srgbClr val="FFFFFF"/>
          </a:solidFill>
          <a:ln w="6350">
            <a:solidFill>
              <a:srgbClr val="E1E2E5"/>
            </a:solidFill>
            <a:prstDash val="solid"/>
          </a:ln>
        </p:spPr>
      </p:sp>
      <p:sp>
        <p:nvSpPr>
          <p:cNvPr id="62" name="Shape 60"/>
          <p:cNvSpPr/>
          <p:nvPr/>
        </p:nvSpPr>
        <p:spPr>
          <a:xfrm>
            <a:off x="11119104" y="3456432"/>
            <a:ext cx="292608" cy="292608"/>
          </a:xfrm>
          <a:prstGeom prst="rect">
            <a:avLst/>
          </a:prstGeom>
          <a:solidFill>
            <a:srgbClr val="FFFFFF"/>
          </a:solidFill>
          <a:ln w="6350">
            <a:solidFill>
              <a:srgbClr val="E1E2E5"/>
            </a:solidFill>
            <a:prstDash val="solid"/>
          </a:ln>
        </p:spPr>
      </p:sp>
      <p:sp>
        <p:nvSpPr>
          <p:cNvPr id="63" name="Shape 61"/>
          <p:cNvSpPr/>
          <p:nvPr/>
        </p:nvSpPr>
        <p:spPr>
          <a:xfrm>
            <a:off x="8686800" y="3803904"/>
            <a:ext cx="292608" cy="292608"/>
          </a:xfrm>
          <a:prstGeom prst="rect">
            <a:avLst/>
          </a:prstGeom>
          <a:solidFill>
            <a:srgbClr val="FFFFFF"/>
          </a:solidFill>
          <a:ln w="6350">
            <a:solidFill>
              <a:srgbClr val="E1E2E5"/>
            </a:solidFill>
            <a:prstDash val="solid"/>
          </a:ln>
        </p:spPr>
      </p:sp>
      <p:sp>
        <p:nvSpPr>
          <p:cNvPr id="64" name="Shape 62"/>
          <p:cNvSpPr/>
          <p:nvPr/>
        </p:nvSpPr>
        <p:spPr>
          <a:xfrm>
            <a:off x="9034272" y="3803904"/>
            <a:ext cx="292608" cy="292608"/>
          </a:xfrm>
          <a:prstGeom prst="rect">
            <a:avLst/>
          </a:prstGeom>
          <a:solidFill>
            <a:srgbClr val="FFFFFF"/>
          </a:solidFill>
          <a:ln w="6350">
            <a:solidFill>
              <a:srgbClr val="E1E2E5"/>
            </a:solidFill>
            <a:prstDash val="solid"/>
          </a:ln>
        </p:spPr>
      </p:sp>
      <p:sp>
        <p:nvSpPr>
          <p:cNvPr id="65" name="Shape 63"/>
          <p:cNvSpPr/>
          <p:nvPr/>
        </p:nvSpPr>
        <p:spPr>
          <a:xfrm>
            <a:off x="9381744" y="3803904"/>
            <a:ext cx="292608" cy="292608"/>
          </a:xfrm>
          <a:prstGeom prst="rect">
            <a:avLst/>
          </a:prstGeom>
          <a:solidFill>
            <a:srgbClr val="FFFFFF"/>
          </a:solidFill>
          <a:ln w="6350">
            <a:solidFill>
              <a:srgbClr val="E1E2E5"/>
            </a:solidFill>
            <a:prstDash val="solid"/>
          </a:ln>
        </p:spPr>
      </p:sp>
      <p:sp>
        <p:nvSpPr>
          <p:cNvPr id="66" name="Shape 64"/>
          <p:cNvSpPr/>
          <p:nvPr/>
        </p:nvSpPr>
        <p:spPr>
          <a:xfrm>
            <a:off x="9729216" y="3803904"/>
            <a:ext cx="292608" cy="292608"/>
          </a:xfrm>
          <a:prstGeom prst="rect">
            <a:avLst/>
          </a:prstGeom>
          <a:solidFill>
            <a:srgbClr val="FFFFFF"/>
          </a:solidFill>
          <a:ln w="6350">
            <a:solidFill>
              <a:srgbClr val="E1E2E5"/>
            </a:solidFill>
            <a:prstDash val="solid"/>
          </a:ln>
        </p:spPr>
      </p:sp>
      <p:sp>
        <p:nvSpPr>
          <p:cNvPr id="67" name="Shape 65"/>
          <p:cNvSpPr/>
          <p:nvPr/>
        </p:nvSpPr>
        <p:spPr>
          <a:xfrm>
            <a:off x="10076688" y="3803904"/>
            <a:ext cx="292608" cy="292608"/>
          </a:xfrm>
          <a:prstGeom prst="rect">
            <a:avLst/>
          </a:prstGeom>
          <a:solidFill>
            <a:srgbClr val="FFFFFF"/>
          </a:solidFill>
          <a:ln w="6350">
            <a:solidFill>
              <a:srgbClr val="E1E2E5"/>
            </a:solidFill>
            <a:prstDash val="solid"/>
          </a:ln>
        </p:spPr>
      </p:sp>
      <p:sp>
        <p:nvSpPr>
          <p:cNvPr id="68" name="Shape 66"/>
          <p:cNvSpPr/>
          <p:nvPr/>
        </p:nvSpPr>
        <p:spPr>
          <a:xfrm>
            <a:off x="10424160" y="3803904"/>
            <a:ext cx="292608" cy="292608"/>
          </a:xfrm>
          <a:prstGeom prst="rect">
            <a:avLst/>
          </a:prstGeom>
          <a:solidFill>
            <a:srgbClr val="FFFFFF"/>
          </a:solidFill>
          <a:ln w="6350">
            <a:solidFill>
              <a:srgbClr val="E1E2E5"/>
            </a:solidFill>
            <a:prstDash val="solid"/>
          </a:ln>
        </p:spPr>
      </p:sp>
      <p:sp>
        <p:nvSpPr>
          <p:cNvPr id="69" name="Shape 67"/>
          <p:cNvSpPr/>
          <p:nvPr/>
        </p:nvSpPr>
        <p:spPr>
          <a:xfrm>
            <a:off x="10771632" y="3803904"/>
            <a:ext cx="292608" cy="292608"/>
          </a:xfrm>
          <a:prstGeom prst="rect">
            <a:avLst/>
          </a:prstGeom>
          <a:solidFill>
            <a:srgbClr val="FFFFFF"/>
          </a:solidFill>
          <a:ln w="6350">
            <a:solidFill>
              <a:srgbClr val="E1E2E5"/>
            </a:solidFill>
            <a:prstDash val="solid"/>
          </a:ln>
        </p:spPr>
      </p:sp>
      <p:sp>
        <p:nvSpPr>
          <p:cNvPr id="70" name="Shape 68"/>
          <p:cNvSpPr/>
          <p:nvPr/>
        </p:nvSpPr>
        <p:spPr>
          <a:xfrm>
            <a:off x="11119104" y="3803904"/>
            <a:ext cx="292608" cy="292608"/>
          </a:xfrm>
          <a:prstGeom prst="rect">
            <a:avLst/>
          </a:prstGeom>
          <a:solidFill>
            <a:srgbClr val="FFFFFF"/>
          </a:solidFill>
          <a:ln w="6350">
            <a:solidFill>
              <a:srgbClr val="E1E2E5"/>
            </a:solidFill>
            <a:prstDash val="solid"/>
          </a:ln>
        </p:spPr>
      </p:sp>
      <p:sp>
        <p:nvSpPr>
          <p:cNvPr id="71" name="Shape 69"/>
          <p:cNvSpPr/>
          <p:nvPr/>
        </p:nvSpPr>
        <p:spPr>
          <a:xfrm>
            <a:off x="8686800" y="4151376"/>
            <a:ext cx="292608" cy="292608"/>
          </a:xfrm>
          <a:prstGeom prst="rect">
            <a:avLst/>
          </a:prstGeom>
          <a:solidFill>
            <a:srgbClr val="FFFFFF"/>
          </a:solidFill>
          <a:ln w="6350">
            <a:solidFill>
              <a:srgbClr val="E1E2E5"/>
            </a:solidFill>
            <a:prstDash val="solid"/>
          </a:ln>
        </p:spPr>
      </p:sp>
      <p:sp>
        <p:nvSpPr>
          <p:cNvPr id="72" name="Shape 70"/>
          <p:cNvSpPr/>
          <p:nvPr/>
        </p:nvSpPr>
        <p:spPr>
          <a:xfrm>
            <a:off x="9034272" y="4151376"/>
            <a:ext cx="292608" cy="292608"/>
          </a:xfrm>
          <a:prstGeom prst="rect">
            <a:avLst/>
          </a:prstGeom>
          <a:solidFill>
            <a:srgbClr val="FFFFFF"/>
          </a:solidFill>
          <a:ln w="6350">
            <a:solidFill>
              <a:srgbClr val="E1E2E5"/>
            </a:solidFill>
            <a:prstDash val="solid"/>
          </a:ln>
        </p:spPr>
      </p:sp>
      <p:sp>
        <p:nvSpPr>
          <p:cNvPr id="73" name="Shape 71"/>
          <p:cNvSpPr/>
          <p:nvPr/>
        </p:nvSpPr>
        <p:spPr>
          <a:xfrm>
            <a:off x="9381744" y="4151376"/>
            <a:ext cx="292608" cy="292608"/>
          </a:xfrm>
          <a:prstGeom prst="rect">
            <a:avLst/>
          </a:prstGeom>
          <a:solidFill>
            <a:srgbClr val="FFFFFF"/>
          </a:solidFill>
          <a:ln w="6350">
            <a:solidFill>
              <a:srgbClr val="E1E2E5"/>
            </a:solidFill>
            <a:prstDash val="solid"/>
          </a:ln>
        </p:spPr>
      </p:sp>
      <p:sp>
        <p:nvSpPr>
          <p:cNvPr id="74" name="Shape 72"/>
          <p:cNvSpPr/>
          <p:nvPr/>
        </p:nvSpPr>
        <p:spPr>
          <a:xfrm>
            <a:off x="9729216" y="4151376"/>
            <a:ext cx="292608" cy="292608"/>
          </a:xfrm>
          <a:prstGeom prst="rect">
            <a:avLst/>
          </a:prstGeom>
          <a:solidFill>
            <a:srgbClr val="FFFFFF"/>
          </a:solidFill>
          <a:ln w="6350">
            <a:solidFill>
              <a:srgbClr val="E1E2E5"/>
            </a:solidFill>
            <a:prstDash val="solid"/>
          </a:ln>
        </p:spPr>
      </p:sp>
      <p:sp>
        <p:nvSpPr>
          <p:cNvPr id="75" name="Shape 73"/>
          <p:cNvSpPr/>
          <p:nvPr/>
        </p:nvSpPr>
        <p:spPr>
          <a:xfrm>
            <a:off x="10076688" y="4151376"/>
            <a:ext cx="292608" cy="292608"/>
          </a:xfrm>
          <a:prstGeom prst="rect">
            <a:avLst/>
          </a:prstGeom>
          <a:solidFill>
            <a:srgbClr val="FFFFFF"/>
          </a:solidFill>
          <a:ln w="6350">
            <a:solidFill>
              <a:srgbClr val="E1E2E5"/>
            </a:solidFill>
            <a:prstDash val="solid"/>
          </a:ln>
        </p:spPr>
      </p:sp>
      <p:sp>
        <p:nvSpPr>
          <p:cNvPr id="76" name="Shape 74"/>
          <p:cNvSpPr/>
          <p:nvPr/>
        </p:nvSpPr>
        <p:spPr>
          <a:xfrm>
            <a:off x="10424160" y="4151376"/>
            <a:ext cx="292608" cy="292608"/>
          </a:xfrm>
          <a:prstGeom prst="rect">
            <a:avLst/>
          </a:prstGeom>
          <a:solidFill>
            <a:srgbClr val="FFFFFF"/>
          </a:solidFill>
          <a:ln w="6350">
            <a:solidFill>
              <a:srgbClr val="E1E2E5"/>
            </a:solidFill>
            <a:prstDash val="solid"/>
          </a:ln>
        </p:spPr>
      </p:sp>
      <p:sp>
        <p:nvSpPr>
          <p:cNvPr id="77" name="Shape 75"/>
          <p:cNvSpPr/>
          <p:nvPr/>
        </p:nvSpPr>
        <p:spPr>
          <a:xfrm>
            <a:off x="10771632" y="4151376"/>
            <a:ext cx="292608" cy="292608"/>
          </a:xfrm>
          <a:prstGeom prst="rect">
            <a:avLst/>
          </a:prstGeom>
          <a:solidFill>
            <a:srgbClr val="FFFFFF"/>
          </a:solidFill>
          <a:ln w="6350">
            <a:solidFill>
              <a:srgbClr val="E1E2E5"/>
            </a:solidFill>
            <a:prstDash val="solid"/>
          </a:ln>
        </p:spPr>
      </p:sp>
      <p:sp>
        <p:nvSpPr>
          <p:cNvPr id="78" name="Shape 76"/>
          <p:cNvSpPr/>
          <p:nvPr/>
        </p:nvSpPr>
        <p:spPr>
          <a:xfrm>
            <a:off x="11119104" y="4151376"/>
            <a:ext cx="292608" cy="292608"/>
          </a:xfrm>
          <a:prstGeom prst="rect">
            <a:avLst/>
          </a:prstGeom>
          <a:solidFill>
            <a:srgbClr val="FFFFFF"/>
          </a:solidFill>
          <a:ln w="6350">
            <a:solidFill>
              <a:srgbClr val="E1E2E5"/>
            </a:solidFill>
            <a:prstDash val="solid"/>
          </a:ln>
        </p:spPr>
      </p:sp>
      <p:sp>
        <p:nvSpPr>
          <p:cNvPr id="79" name="Shape 77"/>
          <p:cNvSpPr/>
          <p:nvPr/>
        </p:nvSpPr>
        <p:spPr>
          <a:xfrm>
            <a:off x="8686800" y="4498848"/>
            <a:ext cx="292608" cy="292608"/>
          </a:xfrm>
          <a:prstGeom prst="rect">
            <a:avLst/>
          </a:prstGeom>
          <a:solidFill>
            <a:srgbClr val="FFFFFF"/>
          </a:solidFill>
          <a:ln w="6350">
            <a:solidFill>
              <a:srgbClr val="E1E2E5"/>
            </a:solidFill>
            <a:prstDash val="solid"/>
          </a:ln>
        </p:spPr>
      </p:sp>
      <p:sp>
        <p:nvSpPr>
          <p:cNvPr id="80" name="Shape 78"/>
          <p:cNvSpPr/>
          <p:nvPr/>
        </p:nvSpPr>
        <p:spPr>
          <a:xfrm>
            <a:off x="9034272" y="4498848"/>
            <a:ext cx="292608" cy="292608"/>
          </a:xfrm>
          <a:prstGeom prst="rect">
            <a:avLst/>
          </a:prstGeom>
          <a:solidFill>
            <a:srgbClr val="FFFFFF"/>
          </a:solidFill>
          <a:ln w="6350">
            <a:solidFill>
              <a:srgbClr val="E1E2E5"/>
            </a:solidFill>
            <a:prstDash val="solid"/>
          </a:ln>
        </p:spPr>
      </p:sp>
      <p:sp>
        <p:nvSpPr>
          <p:cNvPr id="81" name="Shape 79"/>
          <p:cNvSpPr/>
          <p:nvPr/>
        </p:nvSpPr>
        <p:spPr>
          <a:xfrm>
            <a:off x="9381744" y="4498848"/>
            <a:ext cx="292608" cy="292608"/>
          </a:xfrm>
          <a:prstGeom prst="rect">
            <a:avLst/>
          </a:prstGeom>
          <a:solidFill>
            <a:srgbClr val="FFFFFF"/>
          </a:solidFill>
          <a:ln w="6350">
            <a:solidFill>
              <a:srgbClr val="E1E2E5"/>
            </a:solidFill>
            <a:prstDash val="solid"/>
          </a:ln>
        </p:spPr>
      </p:sp>
      <p:sp>
        <p:nvSpPr>
          <p:cNvPr id="82" name="Shape 80"/>
          <p:cNvSpPr/>
          <p:nvPr/>
        </p:nvSpPr>
        <p:spPr>
          <a:xfrm>
            <a:off x="9729216" y="4498848"/>
            <a:ext cx="292608" cy="292608"/>
          </a:xfrm>
          <a:prstGeom prst="rect">
            <a:avLst/>
          </a:prstGeom>
          <a:solidFill>
            <a:srgbClr val="FFFFFF"/>
          </a:solidFill>
          <a:ln w="6350">
            <a:solidFill>
              <a:srgbClr val="E1E2E5"/>
            </a:solidFill>
            <a:prstDash val="solid"/>
          </a:ln>
        </p:spPr>
      </p:sp>
      <p:sp>
        <p:nvSpPr>
          <p:cNvPr id="83" name="Shape 81"/>
          <p:cNvSpPr/>
          <p:nvPr/>
        </p:nvSpPr>
        <p:spPr>
          <a:xfrm>
            <a:off x="10076688" y="4498848"/>
            <a:ext cx="292608" cy="292608"/>
          </a:xfrm>
          <a:prstGeom prst="rect">
            <a:avLst/>
          </a:prstGeom>
          <a:solidFill>
            <a:srgbClr val="FFFFFF"/>
          </a:solidFill>
          <a:ln w="6350">
            <a:solidFill>
              <a:srgbClr val="E1E2E5"/>
            </a:solidFill>
            <a:prstDash val="solid"/>
          </a:ln>
        </p:spPr>
      </p:sp>
      <p:sp>
        <p:nvSpPr>
          <p:cNvPr id="84" name="Shape 82"/>
          <p:cNvSpPr/>
          <p:nvPr/>
        </p:nvSpPr>
        <p:spPr>
          <a:xfrm>
            <a:off x="10424160" y="4498848"/>
            <a:ext cx="292608" cy="292608"/>
          </a:xfrm>
          <a:prstGeom prst="rect">
            <a:avLst/>
          </a:prstGeom>
          <a:solidFill>
            <a:srgbClr val="FFFFFF"/>
          </a:solidFill>
          <a:ln w="6350">
            <a:solidFill>
              <a:srgbClr val="E1E2E5"/>
            </a:solidFill>
            <a:prstDash val="solid"/>
          </a:ln>
        </p:spPr>
      </p:sp>
      <p:sp>
        <p:nvSpPr>
          <p:cNvPr id="85" name="Shape 83"/>
          <p:cNvSpPr/>
          <p:nvPr/>
        </p:nvSpPr>
        <p:spPr>
          <a:xfrm>
            <a:off x="10771632" y="4498848"/>
            <a:ext cx="292608" cy="292608"/>
          </a:xfrm>
          <a:prstGeom prst="rect">
            <a:avLst/>
          </a:prstGeom>
          <a:solidFill>
            <a:srgbClr val="FFFFFF"/>
          </a:solidFill>
          <a:ln w="6350">
            <a:solidFill>
              <a:srgbClr val="E1E2E5"/>
            </a:solidFill>
            <a:prstDash val="solid"/>
          </a:ln>
        </p:spPr>
      </p:sp>
      <p:sp>
        <p:nvSpPr>
          <p:cNvPr id="86" name="Shape 84"/>
          <p:cNvSpPr/>
          <p:nvPr/>
        </p:nvSpPr>
        <p:spPr>
          <a:xfrm>
            <a:off x="11119104" y="4498848"/>
            <a:ext cx="292608" cy="292608"/>
          </a:xfrm>
          <a:prstGeom prst="rect">
            <a:avLst/>
          </a:prstGeom>
          <a:solidFill>
            <a:srgbClr val="FFFFFF"/>
          </a:solidFill>
          <a:ln w="6350">
            <a:solidFill>
              <a:srgbClr val="E1E2E5"/>
            </a:solidFill>
            <a:prstDash val="solid"/>
          </a:ln>
        </p:spPr>
      </p:sp>
      <p:sp>
        <p:nvSpPr>
          <p:cNvPr id="87" name="Text 85"/>
          <p:cNvSpPr/>
          <p:nvPr/>
        </p:nvSpPr>
        <p:spPr>
          <a:xfrm>
            <a:off x="8686800" y="5212080"/>
            <a:ext cx="2926080" cy="274320"/>
          </a:xfrm>
          <a:prstGeom prst="rect">
            <a:avLst/>
          </a:prstGeom>
          <a:noFill/>
          <a:ln/>
        </p:spPr>
        <p:txBody>
          <a:bodyPr wrap="square" rtlCol="0" anchor="ctr"/>
          <a:lstStyle/>
          <a:p>
            <a:pPr algn="l" indent="0" marL="0">
              <a:buNone/>
            </a:pPr>
            <a:r>
              <a:rPr lang="en-US" sz="900" dirty="0">
                <a:solidFill>
                  <a:srgbClr val="80868F"/>
                </a:solidFill>
                <a:latin typeface="Consolas" pitchFamily="34" charset="0"/>
                <a:ea typeface="Consolas" pitchFamily="34" charset="-122"/>
                <a:cs typeface="Consolas" pitchFamily="34" charset="-120"/>
              </a:rPr>
              <a:t>Sepolia Testnet · Cloudflare · IPFS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064240" y="274320"/>
            <a:ext cx="822960" cy="274320"/>
          </a:xfrm>
          <a:prstGeom prst="rect">
            <a:avLst/>
          </a:prstGeom>
          <a:noFill/>
          <a:ln/>
        </p:spPr>
        <p:txBody>
          <a:bodyPr wrap="square" rtlCol="0" anchor="ctr"/>
          <a:lstStyle/>
          <a:p>
            <a:pPr algn="r" indent="0" marL="0">
              <a:buNone/>
            </a:pPr>
            <a:r>
              <a:rPr lang="en-US" sz="1000" dirty="0">
                <a:solidFill>
                  <a:srgbClr val="80868F"/>
                </a:solidFill>
                <a:latin typeface="Malgun Gothic" pitchFamily="34" charset="0"/>
                <a:ea typeface="Malgun Gothic" pitchFamily="34" charset="-122"/>
                <a:cs typeface="Malgun Gothic" pitchFamily="34" charset="-120"/>
              </a:rPr>
              <a:t>02 / 07</a:t>
            </a:r>
            <a:endParaRPr lang="en-US" sz="1000" dirty="0"/>
          </a:p>
        </p:txBody>
      </p:sp>
      <p:sp>
        <p:nvSpPr>
          <p:cNvPr id="3" name="Text 1"/>
          <p:cNvSpPr/>
          <p:nvPr/>
        </p:nvSpPr>
        <p:spPr>
          <a:xfrm>
            <a:off x="548640" y="274320"/>
            <a:ext cx="2743200" cy="274320"/>
          </a:xfrm>
          <a:prstGeom prst="rect">
            <a:avLst/>
          </a:prstGeom>
          <a:noFill/>
          <a:ln/>
        </p:spPr>
        <p:txBody>
          <a:bodyPr wrap="square" rtlCol="0" anchor="ctr"/>
          <a:lstStyle/>
          <a:p>
            <a:pPr indent="0" marL="0">
              <a:buNone/>
            </a:pPr>
            <a:r>
              <a:rPr lang="en-US" sz="1000" b="1" spc="200" kern="0" dirty="0">
                <a:solidFill>
                  <a:srgbClr val="80868F"/>
                </a:solidFill>
                <a:latin typeface="Malgun Gothic" pitchFamily="34" charset="0"/>
                <a:ea typeface="Malgun Gothic" pitchFamily="34" charset="-122"/>
                <a:cs typeface="Malgun Gothic" pitchFamily="34" charset="-120"/>
              </a:rPr>
              <a:t>MTC Chain</a:t>
            </a:r>
            <a:endParaRPr lang="en-US" sz="1000" dirty="0"/>
          </a:p>
        </p:txBody>
      </p:sp>
      <p:sp>
        <p:nvSpPr>
          <p:cNvPr id="4" name="Shape 2"/>
          <p:cNvSpPr/>
          <p:nvPr/>
        </p:nvSpPr>
        <p:spPr>
          <a:xfrm>
            <a:off x="548640" y="6400800"/>
            <a:ext cx="11064240" cy="0"/>
          </a:xfrm>
          <a:prstGeom prst="line">
            <a:avLst/>
          </a:prstGeom>
          <a:noFill/>
          <a:ln w="6350">
            <a:solidFill>
              <a:srgbClr val="EAECEF"/>
            </a:solidFill>
            <a:prstDash val="solid"/>
          </a:ln>
        </p:spPr>
      </p:sp>
      <p:sp>
        <p:nvSpPr>
          <p:cNvPr id="5" name="Text 3"/>
          <p:cNvSpPr/>
          <p:nvPr/>
        </p:nvSpPr>
        <p:spPr>
          <a:xfrm>
            <a:off x="548640" y="6492240"/>
            <a:ext cx="5486400" cy="228600"/>
          </a:xfrm>
          <a:prstGeom prst="rect">
            <a:avLst/>
          </a:prstGeom>
          <a:noFill/>
          <a:ln/>
        </p:spPr>
        <p:txBody>
          <a:bodyPr wrap="square" rtlCol="0" anchor="ctr"/>
          <a:lstStyle/>
          <a:p>
            <a:pPr indent="0" marL="0">
              <a:buNone/>
            </a:pPr>
            <a:r>
              <a:rPr lang="en-US" sz="900" dirty="0">
                <a:solidFill>
                  <a:srgbClr val="80868F"/>
                </a:solidFill>
                <a:latin typeface="Malgun Gothic" pitchFamily="34" charset="0"/>
                <a:ea typeface="Malgun Gothic" pitchFamily="34" charset="-122"/>
                <a:cs typeface="Malgun Gothic" pitchFamily="34" charset="-120"/>
              </a:rPr>
              <a:t>임시우 · 20233530 · 호서대학교</a:t>
            </a:r>
            <a:endParaRPr lang="en-US" sz="900" dirty="0"/>
          </a:p>
        </p:txBody>
      </p:sp>
      <p:sp>
        <p:nvSpPr>
          <p:cNvPr id="6" name="Text 4"/>
          <p:cNvSpPr/>
          <p:nvPr/>
        </p:nvSpPr>
        <p:spPr>
          <a:xfrm>
            <a:off x="7955280" y="6492240"/>
            <a:ext cx="3657600" cy="228600"/>
          </a:xfrm>
          <a:prstGeom prst="rect">
            <a:avLst/>
          </a:prstGeom>
          <a:noFill/>
          <a:ln/>
        </p:spPr>
        <p:txBody>
          <a:bodyPr wrap="square" rtlCol="0" anchor="ctr"/>
          <a:lstStyle/>
          <a:p>
            <a:pPr algn="r" indent="0" marL="0">
              <a:buNone/>
            </a:pPr>
            <a:r>
              <a:rPr lang="en-US" sz="900" dirty="0">
                <a:solidFill>
                  <a:srgbClr val="80868F"/>
                </a:solidFill>
                <a:latin typeface="Malgun Gothic" pitchFamily="34" charset="0"/>
                <a:ea typeface="Malgun Gothic" pitchFamily="34" charset="-122"/>
                <a:cs typeface="Malgun Gothic" pitchFamily="34" charset="-120"/>
              </a:rPr>
              <a:t>Blockchain Application · 2026</a:t>
            </a:r>
            <a:endParaRPr lang="en-US" sz="900" dirty="0"/>
          </a:p>
        </p:txBody>
      </p:sp>
      <p:sp>
        <p:nvSpPr>
          <p:cNvPr id="7" name="Text 5"/>
          <p:cNvSpPr/>
          <p:nvPr/>
        </p:nvSpPr>
        <p:spPr>
          <a:xfrm>
            <a:off x="548640" y="777240"/>
            <a:ext cx="914400" cy="457200"/>
          </a:xfrm>
          <a:prstGeom prst="rect">
            <a:avLst/>
          </a:prstGeom>
          <a:noFill/>
          <a:ln/>
        </p:spPr>
        <p:txBody>
          <a:bodyPr wrap="square" rtlCol="0" anchor="ctr"/>
          <a:lstStyle/>
          <a:p>
            <a:pPr indent="0" marL="0">
              <a:buNone/>
            </a:pPr>
            <a:r>
              <a:rPr lang="en-US" sz="1400" spc="300" kern="0" dirty="0">
                <a:solidFill>
                  <a:srgbClr val="80868F"/>
                </a:solidFill>
                <a:latin typeface="Consolas" pitchFamily="34" charset="0"/>
                <a:ea typeface="Consolas" pitchFamily="34" charset="-122"/>
                <a:cs typeface="Consolas" pitchFamily="34" charset="-120"/>
              </a:rPr>
              <a:t>01</a:t>
            </a:r>
            <a:endParaRPr lang="en-US" sz="1400" dirty="0"/>
          </a:p>
        </p:txBody>
      </p:sp>
      <p:sp>
        <p:nvSpPr>
          <p:cNvPr id="8" name="Text 6"/>
          <p:cNvSpPr/>
          <p:nvPr/>
        </p:nvSpPr>
        <p:spPr>
          <a:xfrm>
            <a:off x="548640" y="1143000"/>
            <a:ext cx="9144000" cy="640080"/>
          </a:xfrm>
          <a:prstGeom prst="rect">
            <a:avLst/>
          </a:prstGeom>
          <a:noFill/>
          <a:ln/>
        </p:spPr>
        <p:txBody>
          <a:bodyPr wrap="square" rtlCol="0" anchor="ctr"/>
          <a:lstStyle/>
          <a:p>
            <a:pPr indent="0" marL="0">
              <a:buNone/>
            </a:pPr>
            <a:r>
              <a:rPr lang="en-US" sz="3600" b="1" dirty="0">
                <a:solidFill>
                  <a:srgbClr val="0A0A0B"/>
                </a:solidFill>
                <a:latin typeface="Malgun Gothic" pitchFamily="34" charset="0"/>
                <a:ea typeface="Malgun Gothic" pitchFamily="34" charset="-122"/>
                <a:cs typeface="Malgun Gothic" pitchFamily="34" charset="-120"/>
              </a:rPr>
              <a:t>강재 자재 이력 추적의 현실</a:t>
            </a:r>
            <a:endParaRPr lang="en-US" sz="3600" dirty="0"/>
          </a:p>
        </p:txBody>
      </p:sp>
      <p:sp>
        <p:nvSpPr>
          <p:cNvPr id="9" name="Text 7"/>
          <p:cNvSpPr/>
          <p:nvPr/>
        </p:nvSpPr>
        <p:spPr>
          <a:xfrm>
            <a:off x="548640" y="1783080"/>
            <a:ext cx="9144000" cy="365760"/>
          </a:xfrm>
          <a:prstGeom prst="rect">
            <a:avLst/>
          </a:prstGeom>
          <a:noFill/>
          <a:ln/>
        </p:spPr>
        <p:txBody>
          <a:bodyPr wrap="square" rtlCol="0" anchor="ctr"/>
          <a:lstStyle/>
          <a:p>
            <a:pPr indent="0" marL="0">
              <a:buNone/>
            </a:pPr>
            <a:r>
              <a:rPr lang="en-US" sz="1500" dirty="0">
                <a:solidFill>
                  <a:srgbClr val="4B5160"/>
                </a:solidFill>
                <a:latin typeface="Malgun Gothic" pitchFamily="34" charset="0"/>
                <a:ea typeface="Malgun Gothic" pitchFamily="34" charset="-122"/>
                <a:cs typeface="Malgun Gothic" pitchFamily="34" charset="-120"/>
              </a:rPr>
              <a:t>Mill Test Certificate, 위변조에 취약한 종이/PDF 기반 유통</a:t>
            </a:r>
            <a:endParaRPr lang="en-US" sz="1500" dirty="0"/>
          </a:p>
        </p:txBody>
      </p:sp>
      <p:sp>
        <p:nvSpPr>
          <p:cNvPr id="10" name="Shape 8"/>
          <p:cNvSpPr/>
          <p:nvPr/>
        </p:nvSpPr>
        <p:spPr>
          <a:xfrm>
            <a:off x="548640" y="2606040"/>
            <a:ext cx="4754880" cy="3108960"/>
          </a:xfrm>
          <a:prstGeom prst="rect">
            <a:avLst/>
          </a:prstGeom>
          <a:solidFill>
            <a:srgbClr val="F7F7F8"/>
          </a:solidFill>
          <a:ln w="9525">
            <a:solidFill>
              <a:srgbClr val="E1E2E5"/>
            </a:solidFill>
            <a:prstDash val="solid"/>
          </a:ln>
        </p:spPr>
      </p:sp>
      <p:sp>
        <p:nvSpPr>
          <p:cNvPr id="11" name="Text 9"/>
          <p:cNvSpPr/>
          <p:nvPr/>
        </p:nvSpPr>
        <p:spPr>
          <a:xfrm>
            <a:off x="822960" y="2788920"/>
            <a:ext cx="4572000" cy="365760"/>
          </a:xfrm>
          <a:prstGeom prst="rect">
            <a:avLst/>
          </a:prstGeom>
          <a:noFill/>
          <a:ln/>
        </p:spPr>
        <p:txBody>
          <a:bodyPr wrap="square" rtlCol="0" anchor="ctr"/>
          <a:lstStyle/>
          <a:p>
            <a:pPr indent="0" marL="0">
              <a:buNone/>
            </a:pPr>
            <a:r>
              <a:rPr lang="en-US" sz="1100" b="1" spc="200" kern="0" dirty="0">
                <a:solidFill>
                  <a:srgbClr val="80868F"/>
                </a:solidFill>
                <a:latin typeface="Malgun Gothic" pitchFamily="34" charset="0"/>
                <a:ea typeface="Malgun Gothic" pitchFamily="34" charset="-122"/>
                <a:cs typeface="Malgun Gothic" pitchFamily="34" charset="-120"/>
              </a:rPr>
              <a:t>현장에서 본 풍경</a:t>
            </a:r>
            <a:endParaRPr lang="en-US" sz="1100" dirty="0"/>
          </a:p>
        </p:txBody>
      </p:sp>
      <p:sp>
        <p:nvSpPr>
          <p:cNvPr id="12" name="Text 10"/>
          <p:cNvSpPr/>
          <p:nvPr/>
        </p:nvSpPr>
        <p:spPr>
          <a:xfrm>
            <a:off x="822960" y="3200400"/>
            <a:ext cx="4206240" cy="2377440"/>
          </a:xfrm>
          <a:prstGeom prst="rect">
            <a:avLst/>
          </a:prstGeom>
          <a:noFill/>
          <a:ln/>
        </p:spPr>
        <p:txBody>
          <a:bodyPr wrap="square" rtlCol="0" anchor="ctr"/>
          <a:lstStyle/>
          <a:p>
            <a:pPr indent="0" marL="0">
              <a:spcAft>
                <a:spcPts val="200"/>
              </a:spcAft>
              <a:buNone/>
            </a:pPr>
            <a:r>
              <a:rPr lang="en-US" sz="1500" i="1" dirty="0">
                <a:solidFill>
                  <a:srgbClr val="0A0A0B"/>
                </a:solidFill>
                <a:latin typeface="Malgun Gothic" pitchFamily="34" charset="0"/>
                <a:ea typeface="Malgun Gothic" pitchFamily="34" charset="-122"/>
                <a:cs typeface="Malgun Gothic" pitchFamily="34" charset="-120"/>
              </a:rPr>
              <a:t>“자동화 설비를 4년간 설계하면서 매일 보던 문서입니다.</a:t>
            </a:r>
            <a:endParaRPr lang="en-US" sz="1500" dirty="0"/>
          </a:p>
          <a:p>
            <a:pPr indent="0" marL="0">
              <a:spcAft>
                <a:spcPts val="200"/>
              </a:spcAft>
              <a:buNone/>
            </a:pPr>
            <a:r>
              <a:rPr lang="en-US" sz="1500" i="1" dirty="0">
                <a:solidFill>
                  <a:srgbClr val="0A0A0B"/>
                </a:solidFill>
                <a:latin typeface="Malgun Gothic" pitchFamily="34" charset="0"/>
                <a:ea typeface="Malgun Gothic" pitchFamily="34" charset="-122"/>
                <a:cs typeface="Malgun Gothic" pitchFamily="34" charset="-120"/>
              </a:rPr>
              <a:t>종이와 PDF로 유통되니, 위조와 변조가 발생해도</a:t>
            </a:r>
            <a:endParaRPr lang="en-US" sz="1500" dirty="0"/>
          </a:p>
          <a:p>
            <a:pPr indent="0" marL="0">
              <a:spcAft>
                <a:spcPts val="200"/>
              </a:spcAft>
              <a:buNone/>
            </a:pPr>
            <a:r>
              <a:rPr lang="en-US" sz="1500" i="1" dirty="0">
                <a:solidFill>
                  <a:srgbClr val="0A0A0B"/>
                </a:solidFill>
                <a:latin typeface="Malgun Gothic" pitchFamily="34" charset="0"/>
                <a:ea typeface="Malgun Gothic" pitchFamily="34" charset="-122"/>
                <a:cs typeface="Malgun Gothic" pitchFamily="34" charset="-120"/>
              </a:rPr>
              <a:t>사후 검증이 거의 불가능합니다.”</a:t>
            </a:r>
            <a:endParaRPr lang="en-US" sz="1500" dirty="0"/>
          </a:p>
          <a:p>
            <a:pPr indent="0" marL="0">
              <a:spcAft>
                <a:spcPts val="200"/>
              </a:spcAft>
              <a:buNone/>
            </a:pPr>
            <a:r>
              <a:rPr lang="en-US" sz="800" dirty="0">
                <a:solidFill>
                  <a:srgbClr val="000000"/>
                </a:solidFill>
                <a:latin typeface="Malgun Gothic" pitchFamily="34" charset="0"/>
                <a:ea typeface="Malgun Gothic" pitchFamily="34" charset="-122"/>
                <a:cs typeface="Malgun Gothic" pitchFamily="34" charset="-120"/>
              </a:rPr>
              <a:t> </a:t>
            </a:r>
            <a:endParaRPr lang="en-US" sz="1500" dirty="0"/>
          </a:p>
          <a:p>
            <a:pPr indent="0" marL="0">
              <a:spcAft>
                <a:spcPts val="200"/>
              </a:spcAft>
              <a:buNone/>
            </a:pPr>
            <a:r>
              <a:rPr lang="en-US" sz="1200" b="1" dirty="0">
                <a:solidFill>
                  <a:srgbClr val="C92A2A"/>
                </a:solidFill>
                <a:latin typeface="Malgun Gothic" pitchFamily="34" charset="0"/>
                <a:ea typeface="Malgun Gothic" pitchFamily="34" charset="-122"/>
                <a:cs typeface="Malgun Gothic" pitchFamily="34" charset="-120"/>
              </a:rPr>
              <a:t>최근 사례:  H제강 시험성적서 조작 → KS 인증 취소</a:t>
            </a:r>
            <a:endParaRPr lang="en-US" sz="1500" dirty="0"/>
          </a:p>
        </p:txBody>
      </p:sp>
      <p:sp>
        <p:nvSpPr>
          <p:cNvPr id="13" name="Shape 11"/>
          <p:cNvSpPr/>
          <p:nvPr/>
        </p:nvSpPr>
        <p:spPr>
          <a:xfrm>
            <a:off x="5669280" y="2606040"/>
            <a:ext cx="5943600" cy="960120"/>
          </a:xfrm>
          <a:prstGeom prst="rect">
            <a:avLst/>
          </a:prstGeom>
          <a:solidFill>
            <a:srgbClr val="FFFFFF"/>
          </a:solidFill>
          <a:ln w="9525">
            <a:solidFill>
              <a:srgbClr val="E1E2E5"/>
            </a:solidFill>
            <a:prstDash val="solid"/>
          </a:ln>
        </p:spPr>
      </p:sp>
      <p:sp>
        <p:nvSpPr>
          <p:cNvPr id="14" name="Shape 12"/>
          <p:cNvSpPr/>
          <p:nvPr/>
        </p:nvSpPr>
        <p:spPr>
          <a:xfrm>
            <a:off x="5669280" y="2606040"/>
            <a:ext cx="73152" cy="960120"/>
          </a:xfrm>
          <a:prstGeom prst="rect">
            <a:avLst/>
          </a:prstGeom>
          <a:solidFill>
            <a:srgbClr val="C92A2A"/>
          </a:solidFill>
          <a:ln w="12700">
            <a:solidFill>
              <a:srgbClr val="C92A2A"/>
            </a:solidFill>
            <a:prstDash val="solid"/>
          </a:ln>
        </p:spPr>
      </p:sp>
      <p:sp>
        <p:nvSpPr>
          <p:cNvPr id="15" name="Text 13"/>
          <p:cNvSpPr/>
          <p:nvPr/>
        </p:nvSpPr>
        <p:spPr>
          <a:xfrm>
            <a:off x="5897880" y="2697480"/>
            <a:ext cx="548640" cy="274320"/>
          </a:xfrm>
          <a:prstGeom prst="rect">
            <a:avLst/>
          </a:prstGeom>
          <a:noFill/>
          <a:ln/>
        </p:spPr>
        <p:txBody>
          <a:bodyPr wrap="square" rtlCol="0" anchor="ctr"/>
          <a:lstStyle/>
          <a:p>
            <a:pPr indent="0" marL="0">
              <a:buNone/>
            </a:pPr>
            <a:r>
              <a:rPr lang="en-US" sz="1000" spc="200" kern="0" dirty="0">
                <a:solidFill>
                  <a:srgbClr val="80868F"/>
                </a:solidFill>
                <a:latin typeface="Consolas" pitchFamily="34" charset="0"/>
                <a:ea typeface="Consolas" pitchFamily="34" charset="-122"/>
                <a:cs typeface="Consolas" pitchFamily="34" charset="-120"/>
              </a:rPr>
              <a:t>01</a:t>
            </a:r>
            <a:endParaRPr lang="en-US" sz="1000" dirty="0"/>
          </a:p>
        </p:txBody>
      </p:sp>
      <p:sp>
        <p:nvSpPr>
          <p:cNvPr id="16" name="Text 14"/>
          <p:cNvSpPr/>
          <p:nvPr/>
        </p:nvSpPr>
        <p:spPr>
          <a:xfrm>
            <a:off x="5897880" y="2898648"/>
            <a:ext cx="5486400" cy="320040"/>
          </a:xfrm>
          <a:prstGeom prst="rect">
            <a:avLst/>
          </a:prstGeom>
          <a:noFill/>
          <a:ln/>
        </p:spPr>
        <p:txBody>
          <a:bodyPr wrap="square" rtlCol="0" anchor="ctr"/>
          <a:lstStyle/>
          <a:p>
            <a:pPr indent="0" marL="0">
              <a:buNone/>
            </a:pPr>
            <a:r>
              <a:rPr lang="en-US" sz="1500" b="1" dirty="0">
                <a:solidFill>
                  <a:srgbClr val="0A0A0B"/>
                </a:solidFill>
                <a:latin typeface="Malgun Gothic" pitchFamily="34" charset="0"/>
                <a:ea typeface="Malgun Gothic" pitchFamily="34" charset="-122"/>
                <a:cs typeface="Malgun Gothic" pitchFamily="34" charset="-120"/>
              </a:rPr>
              <a:t>위·변조 사후 검증 불가</a:t>
            </a:r>
            <a:endParaRPr lang="en-US" sz="1500" dirty="0"/>
          </a:p>
        </p:txBody>
      </p:sp>
      <p:sp>
        <p:nvSpPr>
          <p:cNvPr id="17" name="Text 15"/>
          <p:cNvSpPr/>
          <p:nvPr/>
        </p:nvSpPr>
        <p:spPr>
          <a:xfrm>
            <a:off x="5897880" y="3200400"/>
            <a:ext cx="5486400" cy="365760"/>
          </a:xfrm>
          <a:prstGeom prst="rect">
            <a:avLst/>
          </a:prstGeom>
          <a:noFill/>
          <a:ln/>
        </p:spPr>
        <p:txBody>
          <a:bodyPr wrap="square" rtlCol="0" anchor="ctr"/>
          <a:lstStyle/>
          <a:p>
            <a:pPr indent="0" marL="0">
              <a:buNone/>
            </a:pPr>
            <a:r>
              <a:rPr lang="en-US" sz="1100" dirty="0">
                <a:solidFill>
                  <a:srgbClr val="4B5160"/>
                </a:solidFill>
                <a:latin typeface="Malgun Gothic" pitchFamily="34" charset="0"/>
                <a:ea typeface="Malgun Gothic" pitchFamily="34" charset="-122"/>
                <a:cs typeface="Malgun Gothic" pitchFamily="34" charset="-120"/>
              </a:rPr>
              <a:t>PDF는 누구나 수정·재발행 가능. 위조 여부를 객관적으로 판별할 표준이 없음.</a:t>
            </a:r>
            <a:endParaRPr lang="en-US" sz="1100" dirty="0"/>
          </a:p>
        </p:txBody>
      </p:sp>
      <p:sp>
        <p:nvSpPr>
          <p:cNvPr id="18" name="Shape 16"/>
          <p:cNvSpPr/>
          <p:nvPr/>
        </p:nvSpPr>
        <p:spPr>
          <a:xfrm>
            <a:off x="5669280" y="3685032"/>
            <a:ext cx="5943600" cy="960120"/>
          </a:xfrm>
          <a:prstGeom prst="rect">
            <a:avLst/>
          </a:prstGeom>
          <a:solidFill>
            <a:srgbClr val="FFFFFF"/>
          </a:solidFill>
          <a:ln w="9525">
            <a:solidFill>
              <a:srgbClr val="E1E2E5"/>
            </a:solidFill>
            <a:prstDash val="solid"/>
          </a:ln>
        </p:spPr>
      </p:sp>
      <p:sp>
        <p:nvSpPr>
          <p:cNvPr id="19" name="Shape 17"/>
          <p:cNvSpPr/>
          <p:nvPr/>
        </p:nvSpPr>
        <p:spPr>
          <a:xfrm>
            <a:off x="5669280" y="3685032"/>
            <a:ext cx="73152" cy="960120"/>
          </a:xfrm>
          <a:prstGeom prst="rect">
            <a:avLst/>
          </a:prstGeom>
          <a:solidFill>
            <a:srgbClr val="C92A2A"/>
          </a:solidFill>
          <a:ln w="12700">
            <a:solidFill>
              <a:srgbClr val="C92A2A"/>
            </a:solidFill>
            <a:prstDash val="solid"/>
          </a:ln>
        </p:spPr>
      </p:sp>
      <p:sp>
        <p:nvSpPr>
          <p:cNvPr id="20" name="Text 18"/>
          <p:cNvSpPr/>
          <p:nvPr/>
        </p:nvSpPr>
        <p:spPr>
          <a:xfrm>
            <a:off x="5897880" y="3776472"/>
            <a:ext cx="548640" cy="274320"/>
          </a:xfrm>
          <a:prstGeom prst="rect">
            <a:avLst/>
          </a:prstGeom>
          <a:noFill/>
          <a:ln/>
        </p:spPr>
        <p:txBody>
          <a:bodyPr wrap="square" rtlCol="0" anchor="ctr"/>
          <a:lstStyle/>
          <a:p>
            <a:pPr indent="0" marL="0">
              <a:buNone/>
            </a:pPr>
            <a:r>
              <a:rPr lang="en-US" sz="1000" spc="200" kern="0" dirty="0">
                <a:solidFill>
                  <a:srgbClr val="80868F"/>
                </a:solidFill>
                <a:latin typeface="Consolas" pitchFamily="34" charset="0"/>
                <a:ea typeface="Consolas" pitchFamily="34" charset="-122"/>
                <a:cs typeface="Consolas" pitchFamily="34" charset="-120"/>
              </a:rPr>
              <a:t>02</a:t>
            </a:r>
            <a:endParaRPr lang="en-US" sz="1000" dirty="0"/>
          </a:p>
        </p:txBody>
      </p:sp>
      <p:sp>
        <p:nvSpPr>
          <p:cNvPr id="21" name="Text 19"/>
          <p:cNvSpPr/>
          <p:nvPr/>
        </p:nvSpPr>
        <p:spPr>
          <a:xfrm>
            <a:off x="5897880" y="3977640"/>
            <a:ext cx="5486400" cy="320040"/>
          </a:xfrm>
          <a:prstGeom prst="rect">
            <a:avLst/>
          </a:prstGeom>
          <a:noFill/>
          <a:ln/>
        </p:spPr>
        <p:txBody>
          <a:bodyPr wrap="square" rtlCol="0" anchor="ctr"/>
          <a:lstStyle/>
          <a:p>
            <a:pPr indent="0" marL="0">
              <a:buNone/>
            </a:pPr>
            <a:r>
              <a:rPr lang="en-US" sz="1500" b="1" dirty="0">
                <a:solidFill>
                  <a:srgbClr val="0A0A0B"/>
                </a:solidFill>
                <a:latin typeface="Malgun Gothic" pitchFamily="34" charset="0"/>
                <a:ea typeface="Malgun Gothic" pitchFamily="34" charset="-122"/>
                <a:cs typeface="Malgun Gothic" pitchFamily="34" charset="-120"/>
              </a:rPr>
              <a:t>단계별 책임 추적 불가</a:t>
            </a:r>
            <a:endParaRPr lang="en-US" sz="1500" dirty="0"/>
          </a:p>
        </p:txBody>
      </p:sp>
      <p:sp>
        <p:nvSpPr>
          <p:cNvPr id="22" name="Text 20"/>
          <p:cNvSpPr/>
          <p:nvPr/>
        </p:nvSpPr>
        <p:spPr>
          <a:xfrm>
            <a:off x="5897880" y="4279392"/>
            <a:ext cx="5486400" cy="365760"/>
          </a:xfrm>
          <a:prstGeom prst="rect">
            <a:avLst/>
          </a:prstGeom>
          <a:noFill/>
          <a:ln/>
        </p:spPr>
        <p:txBody>
          <a:bodyPr wrap="square" rtlCol="0" anchor="ctr"/>
          <a:lstStyle/>
          <a:p>
            <a:pPr indent="0" marL="0">
              <a:buNone/>
            </a:pPr>
            <a:r>
              <a:rPr lang="en-US" sz="1100" dirty="0">
                <a:solidFill>
                  <a:srgbClr val="4B5160"/>
                </a:solidFill>
                <a:latin typeface="Malgun Gothic" pitchFamily="34" charset="0"/>
                <a:ea typeface="Malgun Gothic" pitchFamily="34" charset="-122"/>
                <a:cs typeface="Malgun Gothic" pitchFamily="34" charset="-120"/>
              </a:rPr>
              <a:t>제강사 → 가공사 → 통합사 이동 시 누가, 언제, 무엇을 했는지 기록 부재.</a:t>
            </a:r>
            <a:endParaRPr lang="en-US" sz="1100" dirty="0"/>
          </a:p>
        </p:txBody>
      </p:sp>
      <p:sp>
        <p:nvSpPr>
          <p:cNvPr id="23" name="Shape 21"/>
          <p:cNvSpPr/>
          <p:nvPr/>
        </p:nvSpPr>
        <p:spPr>
          <a:xfrm>
            <a:off x="5669280" y="4764024"/>
            <a:ext cx="5943600" cy="960120"/>
          </a:xfrm>
          <a:prstGeom prst="rect">
            <a:avLst/>
          </a:prstGeom>
          <a:solidFill>
            <a:srgbClr val="FFFFFF"/>
          </a:solidFill>
          <a:ln w="9525">
            <a:solidFill>
              <a:srgbClr val="E1E2E5"/>
            </a:solidFill>
            <a:prstDash val="solid"/>
          </a:ln>
        </p:spPr>
      </p:sp>
      <p:sp>
        <p:nvSpPr>
          <p:cNvPr id="24" name="Shape 22"/>
          <p:cNvSpPr/>
          <p:nvPr/>
        </p:nvSpPr>
        <p:spPr>
          <a:xfrm>
            <a:off x="5669280" y="4764024"/>
            <a:ext cx="73152" cy="960120"/>
          </a:xfrm>
          <a:prstGeom prst="rect">
            <a:avLst/>
          </a:prstGeom>
          <a:solidFill>
            <a:srgbClr val="C92A2A"/>
          </a:solidFill>
          <a:ln w="12700">
            <a:solidFill>
              <a:srgbClr val="C92A2A"/>
            </a:solidFill>
            <a:prstDash val="solid"/>
          </a:ln>
        </p:spPr>
      </p:sp>
      <p:sp>
        <p:nvSpPr>
          <p:cNvPr id="25" name="Text 23"/>
          <p:cNvSpPr/>
          <p:nvPr/>
        </p:nvSpPr>
        <p:spPr>
          <a:xfrm>
            <a:off x="5897880" y="4855464"/>
            <a:ext cx="548640" cy="274320"/>
          </a:xfrm>
          <a:prstGeom prst="rect">
            <a:avLst/>
          </a:prstGeom>
          <a:noFill/>
          <a:ln/>
        </p:spPr>
        <p:txBody>
          <a:bodyPr wrap="square" rtlCol="0" anchor="ctr"/>
          <a:lstStyle/>
          <a:p>
            <a:pPr indent="0" marL="0">
              <a:buNone/>
            </a:pPr>
            <a:r>
              <a:rPr lang="en-US" sz="1000" spc="200" kern="0" dirty="0">
                <a:solidFill>
                  <a:srgbClr val="80868F"/>
                </a:solidFill>
                <a:latin typeface="Consolas" pitchFamily="34" charset="0"/>
                <a:ea typeface="Consolas" pitchFamily="34" charset="-122"/>
                <a:cs typeface="Consolas" pitchFamily="34" charset="-120"/>
              </a:rPr>
              <a:t>03</a:t>
            </a:r>
            <a:endParaRPr lang="en-US" sz="1000" dirty="0"/>
          </a:p>
        </p:txBody>
      </p:sp>
      <p:sp>
        <p:nvSpPr>
          <p:cNvPr id="26" name="Text 24"/>
          <p:cNvSpPr/>
          <p:nvPr/>
        </p:nvSpPr>
        <p:spPr>
          <a:xfrm>
            <a:off x="5897880" y="5056632"/>
            <a:ext cx="5486400" cy="320040"/>
          </a:xfrm>
          <a:prstGeom prst="rect">
            <a:avLst/>
          </a:prstGeom>
          <a:noFill/>
          <a:ln/>
        </p:spPr>
        <p:txBody>
          <a:bodyPr wrap="square" rtlCol="0" anchor="ctr"/>
          <a:lstStyle/>
          <a:p>
            <a:pPr indent="0" marL="0">
              <a:buNone/>
            </a:pPr>
            <a:r>
              <a:rPr lang="en-US" sz="1500" b="1" dirty="0">
                <a:solidFill>
                  <a:srgbClr val="0A0A0B"/>
                </a:solidFill>
                <a:latin typeface="Malgun Gothic" pitchFamily="34" charset="0"/>
                <a:ea typeface="Malgun Gothic" pitchFamily="34" charset="-122"/>
                <a:cs typeface="Malgun Gothic" pitchFamily="34" charset="-120"/>
              </a:rPr>
              <a:t>장기 보존 보장 부재</a:t>
            </a:r>
            <a:endParaRPr lang="en-US" sz="1500" dirty="0"/>
          </a:p>
        </p:txBody>
      </p:sp>
      <p:sp>
        <p:nvSpPr>
          <p:cNvPr id="27" name="Text 25"/>
          <p:cNvSpPr/>
          <p:nvPr/>
        </p:nvSpPr>
        <p:spPr>
          <a:xfrm>
            <a:off x="5897880" y="5358384"/>
            <a:ext cx="5486400" cy="365760"/>
          </a:xfrm>
          <a:prstGeom prst="rect">
            <a:avLst/>
          </a:prstGeom>
          <a:noFill/>
          <a:ln/>
        </p:spPr>
        <p:txBody>
          <a:bodyPr wrap="square" rtlCol="0" anchor="ctr"/>
          <a:lstStyle/>
          <a:p>
            <a:pPr indent="0" marL="0">
              <a:buNone/>
            </a:pPr>
            <a:r>
              <a:rPr lang="en-US" sz="1100" dirty="0">
                <a:solidFill>
                  <a:srgbClr val="4B5160"/>
                </a:solidFill>
                <a:latin typeface="Malgun Gothic" pitchFamily="34" charset="0"/>
                <a:ea typeface="Malgun Gothic" pitchFamily="34" charset="-122"/>
                <a:cs typeface="Malgun Gothic" pitchFamily="34" charset="-120"/>
              </a:rPr>
              <a:t>설비 수명 20~30년인데 발행 회사가 망하면 검증 자체 불가능.</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064240" y="274320"/>
            <a:ext cx="822960" cy="274320"/>
          </a:xfrm>
          <a:prstGeom prst="rect">
            <a:avLst/>
          </a:prstGeom>
          <a:noFill/>
          <a:ln/>
        </p:spPr>
        <p:txBody>
          <a:bodyPr wrap="square" rtlCol="0" anchor="ctr"/>
          <a:lstStyle/>
          <a:p>
            <a:pPr algn="r" indent="0" marL="0">
              <a:buNone/>
            </a:pPr>
            <a:r>
              <a:rPr lang="en-US" sz="1000" dirty="0">
                <a:solidFill>
                  <a:srgbClr val="80868F"/>
                </a:solidFill>
                <a:latin typeface="Malgun Gothic" pitchFamily="34" charset="0"/>
                <a:ea typeface="Malgun Gothic" pitchFamily="34" charset="-122"/>
                <a:cs typeface="Malgun Gothic" pitchFamily="34" charset="-120"/>
              </a:rPr>
              <a:t>03 / 07</a:t>
            </a:r>
            <a:endParaRPr lang="en-US" sz="1000" dirty="0"/>
          </a:p>
        </p:txBody>
      </p:sp>
      <p:sp>
        <p:nvSpPr>
          <p:cNvPr id="3" name="Text 1"/>
          <p:cNvSpPr/>
          <p:nvPr/>
        </p:nvSpPr>
        <p:spPr>
          <a:xfrm>
            <a:off x="548640" y="274320"/>
            <a:ext cx="2743200" cy="274320"/>
          </a:xfrm>
          <a:prstGeom prst="rect">
            <a:avLst/>
          </a:prstGeom>
          <a:noFill/>
          <a:ln/>
        </p:spPr>
        <p:txBody>
          <a:bodyPr wrap="square" rtlCol="0" anchor="ctr"/>
          <a:lstStyle/>
          <a:p>
            <a:pPr indent="0" marL="0">
              <a:buNone/>
            </a:pPr>
            <a:r>
              <a:rPr lang="en-US" sz="1000" b="1" spc="200" kern="0" dirty="0">
                <a:solidFill>
                  <a:srgbClr val="80868F"/>
                </a:solidFill>
                <a:latin typeface="Malgun Gothic" pitchFamily="34" charset="0"/>
                <a:ea typeface="Malgun Gothic" pitchFamily="34" charset="-122"/>
                <a:cs typeface="Malgun Gothic" pitchFamily="34" charset="-120"/>
              </a:rPr>
              <a:t>MTC Chain</a:t>
            </a:r>
            <a:endParaRPr lang="en-US" sz="1000" dirty="0"/>
          </a:p>
        </p:txBody>
      </p:sp>
      <p:sp>
        <p:nvSpPr>
          <p:cNvPr id="4" name="Shape 2"/>
          <p:cNvSpPr/>
          <p:nvPr/>
        </p:nvSpPr>
        <p:spPr>
          <a:xfrm>
            <a:off x="548640" y="6400800"/>
            <a:ext cx="11064240" cy="0"/>
          </a:xfrm>
          <a:prstGeom prst="line">
            <a:avLst/>
          </a:prstGeom>
          <a:noFill/>
          <a:ln w="6350">
            <a:solidFill>
              <a:srgbClr val="EAECEF"/>
            </a:solidFill>
            <a:prstDash val="solid"/>
          </a:ln>
        </p:spPr>
      </p:sp>
      <p:sp>
        <p:nvSpPr>
          <p:cNvPr id="5" name="Text 3"/>
          <p:cNvSpPr/>
          <p:nvPr/>
        </p:nvSpPr>
        <p:spPr>
          <a:xfrm>
            <a:off x="548640" y="6492240"/>
            <a:ext cx="5486400" cy="228600"/>
          </a:xfrm>
          <a:prstGeom prst="rect">
            <a:avLst/>
          </a:prstGeom>
          <a:noFill/>
          <a:ln/>
        </p:spPr>
        <p:txBody>
          <a:bodyPr wrap="square" rtlCol="0" anchor="ctr"/>
          <a:lstStyle/>
          <a:p>
            <a:pPr indent="0" marL="0">
              <a:buNone/>
            </a:pPr>
            <a:r>
              <a:rPr lang="en-US" sz="900" dirty="0">
                <a:solidFill>
                  <a:srgbClr val="80868F"/>
                </a:solidFill>
                <a:latin typeface="Malgun Gothic" pitchFamily="34" charset="0"/>
                <a:ea typeface="Malgun Gothic" pitchFamily="34" charset="-122"/>
                <a:cs typeface="Malgun Gothic" pitchFamily="34" charset="-120"/>
              </a:rPr>
              <a:t>임시우 · 20233530 · 호서대학교</a:t>
            </a:r>
            <a:endParaRPr lang="en-US" sz="900" dirty="0"/>
          </a:p>
        </p:txBody>
      </p:sp>
      <p:sp>
        <p:nvSpPr>
          <p:cNvPr id="6" name="Text 4"/>
          <p:cNvSpPr/>
          <p:nvPr/>
        </p:nvSpPr>
        <p:spPr>
          <a:xfrm>
            <a:off x="7955280" y="6492240"/>
            <a:ext cx="3657600" cy="228600"/>
          </a:xfrm>
          <a:prstGeom prst="rect">
            <a:avLst/>
          </a:prstGeom>
          <a:noFill/>
          <a:ln/>
        </p:spPr>
        <p:txBody>
          <a:bodyPr wrap="square" rtlCol="0" anchor="ctr"/>
          <a:lstStyle/>
          <a:p>
            <a:pPr algn="r" indent="0" marL="0">
              <a:buNone/>
            </a:pPr>
            <a:r>
              <a:rPr lang="en-US" sz="900" dirty="0">
                <a:solidFill>
                  <a:srgbClr val="80868F"/>
                </a:solidFill>
                <a:latin typeface="Malgun Gothic" pitchFamily="34" charset="0"/>
                <a:ea typeface="Malgun Gothic" pitchFamily="34" charset="-122"/>
                <a:cs typeface="Malgun Gothic" pitchFamily="34" charset="-120"/>
              </a:rPr>
              <a:t>Blockchain Application · 2026</a:t>
            </a:r>
            <a:endParaRPr lang="en-US" sz="900" dirty="0"/>
          </a:p>
        </p:txBody>
      </p:sp>
      <p:sp>
        <p:nvSpPr>
          <p:cNvPr id="7" name="Text 5"/>
          <p:cNvSpPr/>
          <p:nvPr/>
        </p:nvSpPr>
        <p:spPr>
          <a:xfrm>
            <a:off x="548640" y="777240"/>
            <a:ext cx="914400" cy="457200"/>
          </a:xfrm>
          <a:prstGeom prst="rect">
            <a:avLst/>
          </a:prstGeom>
          <a:noFill/>
          <a:ln/>
        </p:spPr>
        <p:txBody>
          <a:bodyPr wrap="square" rtlCol="0" anchor="ctr"/>
          <a:lstStyle/>
          <a:p>
            <a:pPr indent="0" marL="0">
              <a:buNone/>
            </a:pPr>
            <a:r>
              <a:rPr lang="en-US" sz="1400" spc="300" kern="0" dirty="0">
                <a:solidFill>
                  <a:srgbClr val="80868F"/>
                </a:solidFill>
                <a:latin typeface="Consolas" pitchFamily="34" charset="0"/>
                <a:ea typeface="Consolas" pitchFamily="34" charset="-122"/>
                <a:cs typeface="Consolas" pitchFamily="34" charset="-120"/>
              </a:rPr>
              <a:t>02</a:t>
            </a:r>
            <a:endParaRPr lang="en-US" sz="1400" dirty="0"/>
          </a:p>
        </p:txBody>
      </p:sp>
      <p:sp>
        <p:nvSpPr>
          <p:cNvPr id="8" name="Text 6"/>
          <p:cNvSpPr/>
          <p:nvPr/>
        </p:nvSpPr>
        <p:spPr>
          <a:xfrm>
            <a:off x="548640" y="1143000"/>
            <a:ext cx="9144000" cy="640080"/>
          </a:xfrm>
          <a:prstGeom prst="rect">
            <a:avLst/>
          </a:prstGeom>
          <a:noFill/>
          <a:ln/>
        </p:spPr>
        <p:txBody>
          <a:bodyPr wrap="square" rtlCol="0" anchor="ctr"/>
          <a:lstStyle/>
          <a:p>
            <a:pPr indent="0" marL="0">
              <a:buNone/>
            </a:pPr>
            <a:r>
              <a:rPr lang="en-US" sz="3600" b="1" dirty="0">
                <a:solidFill>
                  <a:srgbClr val="0A0A0B"/>
                </a:solidFill>
                <a:latin typeface="Malgun Gothic" pitchFamily="34" charset="0"/>
                <a:ea typeface="Malgun Gothic" pitchFamily="34" charset="-122"/>
                <a:cs typeface="Malgun Gothic" pitchFamily="34" charset="-120"/>
              </a:rPr>
              <a:t>왜 회사 서버로는 못 푸는가</a:t>
            </a:r>
            <a:endParaRPr lang="en-US" sz="3600" dirty="0"/>
          </a:p>
        </p:txBody>
      </p:sp>
      <p:sp>
        <p:nvSpPr>
          <p:cNvPr id="9" name="Text 7"/>
          <p:cNvSpPr/>
          <p:nvPr/>
        </p:nvSpPr>
        <p:spPr>
          <a:xfrm>
            <a:off x="548640" y="1783080"/>
            <a:ext cx="9144000" cy="365760"/>
          </a:xfrm>
          <a:prstGeom prst="rect">
            <a:avLst/>
          </a:prstGeom>
          <a:noFill/>
          <a:ln/>
        </p:spPr>
        <p:txBody>
          <a:bodyPr wrap="square" rtlCol="0" anchor="ctr"/>
          <a:lstStyle/>
          <a:p>
            <a:pPr indent="0" marL="0">
              <a:buNone/>
            </a:pPr>
            <a:r>
              <a:rPr lang="en-US" sz="1500" dirty="0">
                <a:solidFill>
                  <a:srgbClr val="4B5160"/>
                </a:solidFill>
                <a:latin typeface="Malgun Gothic" pitchFamily="34" charset="0"/>
                <a:ea typeface="Malgun Gothic" pitchFamily="34" charset="-122"/>
                <a:cs typeface="Malgun Gothic" pitchFamily="34" charset="-120"/>
              </a:rPr>
              <a:t>블록체인이 필요한 세 가지 조건이 모두 충족됨</a:t>
            </a:r>
            <a:endParaRPr lang="en-US" sz="1500" dirty="0"/>
          </a:p>
        </p:txBody>
      </p:sp>
      <p:sp>
        <p:nvSpPr>
          <p:cNvPr id="10" name="Shape 8"/>
          <p:cNvSpPr/>
          <p:nvPr/>
        </p:nvSpPr>
        <p:spPr>
          <a:xfrm>
            <a:off x="594360" y="2606040"/>
            <a:ext cx="3566160" cy="2286000"/>
          </a:xfrm>
          <a:prstGeom prst="rect">
            <a:avLst/>
          </a:prstGeom>
          <a:solidFill>
            <a:srgbClr val="FFFFFF"/>
          </a:solidFill>
          <a:ln w="9525">
            <a:solidFill>
              <a:srgbClr val="E1E2E5"/>
            </a:solidFill>
            <a:prstDash val="solid"/>
          </a:ln>
        </p:spPr>
      </p:sp>
      <p:sp>
        <p:nvSpPr>
          <p:cNvPr id="11" name="Shape 9"/>
          <p:cNvSpPr/>
          <p:nvPr/>
        </p:nvSpPr>
        <p:spPr>
          <a:xfrm>
            <a:off x="594360" y="2606040"/>
            <a:ext cx="3566160" cy="54864"/>
          </a:xfrm>
          <a:prstGeom prst="rect">
            <a:avLst/>
          </a:prstGeom>
          <a:solidFill>
            <a:srgbClr val="0A0A0B"/>
          </a:solidFill>
          <a:ln w="12700">
            <a:solidFill>
              <a:srgbClr val="0A0A0B"/>
            </a:solidFill>
            <a:prstDash val="solid"/>
          </a:ln>
        </p:spPr>
      </p:sp>
      <p:sp>
        <p:nvSpPr>
          <p:cNvPr id="12" name="Text 10"/>
          <p:cNvSpPr/>
          <p:nvPr/>
        </p:nvSpPr>
        <p:spPr>
          <a:xfrm>
            <a:off x="868680" y="2926080"/>
            <a:ext cx="914400" cy="274320"/>
          </a:xfrm>
          <a:prstGeom prst="rect">
            <a:avLst/>
          </a:prstGeom>
          <a:noFill/>
          <a:ln/>
        </p:spPr>
        <p:txBody>
          <a:bodyPr wrap="square" rtlCol="0" anchor="ctr"/>
          <a:lstStyle/>
          <a:p>
            <a:pPr indent="0" marL="0">
              <a:buNone/>
            </a:pPr>
            <a:r>
              <a:rPr lang="en-US" sz="1100" b="1" spc="300" kern="0" dirty="0">
                <a:solidFill>
                  <a:srgbClr val="80868F"/>
                </a:solidFill>
                <a:latin typeface="Consolas" pitchFamily="34" charset="0"/>
                <a:ea typeface="Consolas" pitchFamily="34" charset="-122"/>
                <a:cs typeface="Consolas" pitchFamily="34" charset="-120"/>
              </a:rPr>
              <a:t>01</a:t>
            </a:r>
            <a:endParaRPr lang="en-US" sz="1100" dirty="0"/>
          </a:p>
        </p:txBody>
      </p:sp>
      <p:sp>
        <p:nvSpPr>
          <p:cNvPr id="13" name="Text 11"/>
          <p:cNvSpPr/>
          <p:nvPr/>
        </p:nvSpPr>
        <p:spPr>
          <a:xfrm>
            <a:off x="868680" y="3291840"/>
            <a:ext cx="3017520" cy="731520"/>
          </a:xfrm>
          <a:prstGeom prst="rect">
            <a:avLst/>
          </a:prstGeom>
          <a:noFill/>
          <a:ln/>
        </p:spPr>
        <p:txBody>
          <a:bodyPr wrap="square" rtlCol="0" anchor="t"/>
          <a:lstStyle/>
          <a:p>
            <a:pPr indent="0" marL="0">
              <a:buNone/>
            </a:pPr>
            <a:r>
              <a:rPr lang="en-US" sz="1700" b="1" dirty="0">
                <a:solidFill>
                  <a:srgbClr val="0A0A0B"/>
                </a:solidFill>
                <a:latin typeface="Malgun Gothic" pitchFamily="34" charset="0"/>
                <a:ea typeface="Malgun Gothic" pitchFamily="34" charset="-122"/>
                <a:cs typeface="Malgun Gothic" pitchFamily="34" charset="-120"/>
              </a:rPr>
              <a:t>데이터 소유자 = 의심받는 입장</a:t>
            </a:r>
            <a:endParaRPr lang="en-US" sz="1700" dirty="0"/>
          </a:p>
        </p:txBody>
      </p:sp>
      <p:sp>
        <p:nvSpPr>
          <p:cNvPr id="14" name="Text 12"/>
          <p:cNvSpPr/>
          <p:nvPr/>
        </p:nvSpPr>
        <p:spPr>
          <a:xfrm>
            <a:off x="868680" y="4023360"/>
            <a:ext cx="3017520" cy="777240"/>
          </a:xfrm>
          <a:prstGeom prst="rect">
            <a:avLst/>
          </a:prstGeom>
          <a:noFill/>
          <a:ln/>
        </p:spPr>
        <p:txBody>
          <a:bodyPr wrap="square" rtlCol="0" anchor="t"/>
          <a:lstStyle/>
          <a:p>
            <a:pPr indent="0" marL="0">
              <a:buNone/>
            </a:pPr>
            <a:r>
              <a:rPr lang="en-US" sz="1200" dirty="0">
                <a:solidFill>
                  <a:srgbClr val="4B5160"/>
                </a:solidFill>
                <a:latin typeface="Malgun Gothic" pitchFamily="34" charset="0"/>
                <a:ea typeface="Malgun Gothic" pitchFamily="34" charset="-122"/>
                <a:cs typeface="Malgun Gothic" pitchFamily="34" charset="-120"/>
              </a:rPr>
              <a:t>제강사가 자기 서버에 저장한 데이터를</a:t>
            </a:r>
            <a:endParaRPr lang="en-US" sz="1200" dirty="0"/>
          </a:p>
          <a:p>
            <a:pPr indent="0" marL="0">
              <a:buNone/>
            </a:pPr>
            <a:r>
              <a:rPr lang="en-US" sz="1200" dirty="0">
                <a:solidFill>
                  <a:srgbClr val="4B5160"/>
                </a:solidFill>
                <a:latin typeface="Malgun Gothic" pitchFamily="34" charset="0"/>
                <a:ea typeface="Malgun Gothic" pitchFamily="34" charset="-122"/>
                <a:cs typeface="Malgun Gothic" pitchFamily="34" charset="-120"/>
              </a:rPr>
              <a:t>누가 믿을 수 있겠는가?</a:t>
            </a:r>
            <a:endParaRPr lang="en-US" sz="1200" dirty="0"/>
          </a:p>
        </p:txBody>
      </p:sp>
      <p:sp>
        <p:nvSpPr>
          <p:cNvPr id="15" name="Shape 13"/>
          <p:cNvSpPr/>
          <p:nvPr/>
        </p:nvSpPr>
        <p:spPr>
          <a:xfrm>
            <a:off x="4297680" y="2606040"/>
            <a:ext cx="3566160" cy="2286000"/>
          </a:xfrm>
          <a:prstGeom prst="rect">
            <a:avLst/>
          </a:prstGeom>
          <a:solidFill>
            <a:srgbClr val="FFFFFF"/>
          </a:solidFill>
          <a:ln w="9525">
            <a:solidFill>
              <a:srgbClr val="E1E2E5"/>
            </a:solidFill>
            <a:prstDash val="solid"/>
          </a:ln>
        </p:spPr>
      </p:sp>
      <p:sp>
        <p:nvSpPr>
          <p:cNvPr id="16" name="Shape 14"/>
          <p:cNvSpPr/>
          <p:nvPr/>
        </p:nvSpPr>
        <p:spPr>
          <a:xfrm>
            <a:off x="4297680" y="2606040"/>
            <a:ext cx="3566160" cy="54864"/>
          </a:xfrm>
          <a:prstGeom prst="rect">
            <a:avLst/>
          </a:prstGeom>
          <a:solidFill>
            <a:srgbClr val="0A0A0B"/>
          </a:solidFill>
          <a:ln w="12700">
            <a:solidFill>
              <a:srgbClr val="0A0A0B"/>
            </a:solidFill>
            <a:prstDash val="solid"/>
          </a:ln>
        </p:spPr>
      </p:sp>
      <p:sp>
        <p:nvSpPr>
          <p:cNvPr id="17" name="Text 15"/>
          <p:cNvSpPr/>
          <p:nvPr/>
        </p:nvSpPr>
        <p:spPr>
          <a:xfrm>
            <a:off x="4572000" y="2926080"/>
            <a:ext cx="914400" cy="274320"/>
          </a:xfrm>
          <a:prstGeom prst="rect">
            <a:avLst/>
          </a:prstGeom>
          <a:noFill/>
          <a:ln/>
        </p:spPr>
        <p:txBody>
          <a:bodyPr wrap="square" rtlCol="0" anchor="ctr"/>
          <a:lstStyle/>
          <a:p>
            <a:pPr indent="0" marL="0">
              <a:buNone/>
            </a:pPr>
            <a:r>
              <a:rPr lang="en-US" sz="1100" b="1" spc="300" kern="0" dirty="0">
                <a:solidFill>
                  <a:srgbClr val="80868F"/>
                </a:solidFill>
                <a:latin typeface="Consolas" pitchFamily="34" charset="0"/>
                <a:ea typeface="Consolas" pitchFamily="34" charset="-122"/>
                <a:cs typeface="Consolas" pitchFamily="34" charset="-120"/>
              </a:rPr>
              <a:t>02</a:t>
            </a:r>
            <a:endParaRPr lang="en-US" sz="1100" dirty="0"/>
          </a:p>
        </p:txBody>
      </p:sp>
      <p:sp>
        <p:nvSpPr>
          <p:cNvPr id="18" name="Text 16"/>
          <p:cNvSpPr/>
          <p:nvPr/>
        </p:nvSpPr>
        <p:spPr>
          <a:xfrm>
            <a:off x="4572000" y="3291840"/>
            <a:ext cx="3017520" cy="731520"/>
          </a:xfrm>
          <a:prstGeom prst="rect">
            <a:avLst/>
          </a:prstGeom>
          <a:noFill/>
          <a:ln/>
        </p:spPr>
        <p:txBody>
          <a:bodyPr wrap="square" rtlCol="0" anchor="t"/>
          <a:lstStyle/>
          <a:p>
            <a:pPr indent="0" marL="0">
              <a:buNone/>
            </a:pPr>
            <a:r>
              <a:rPr lang="en-US" sz="1700" b="1" dirty="0">
                <a:solidFill>
                  <a:srgbClr val="0A0A0B"/>
                </a:solidFill>
                <a:latin typeface="Malgun Gothic" pitchFamily="34" charset="0"/>
                <a:ea typeface="Malgun Gothic" pitchFamily="34" charset="-122"/>
                <a:cs typeface="Malgun Gothic" pitchFamily="34" charset="-120"/>
              </a:rPr>
              <a:t>데이터가 회사 사이를 이동</a:t>
            </a:r>
            <a:endParaRPr lang="en-US" sz="1700" dirty="0"/>
          </a:p>
        </p:txBody>
      </p:sp>
      <p:sp>
        <p:nvSpPr>
          <p:cNvPr id="19" name="Text 17"/>
          <p:cNvSpPr/>
          <p:nvPr/>
        </p:nvSpPr>
        <p:spPr>
          <a:xfrm>
            <a:off x="4572000" y="4023360"/>
            <a:ext cx="3017520" cy="777240"/>
          </a:xfrm>
          <a:prstGeom prst="rect">
            <a:avLst/>
          </a:prstGeom>
          <a:noFill/>
          <a:ln/>
        </p:spPr>
        <p:txBody>
          <a:bodyPr wrap="square" rtlCol="0" anchor="t"/>
          <a:lstStyle/>
          <a:p>
            <a:pPr indent="0" marL="0">
              <a:buNone/>
            </a:pPr>
            <a:r>
              <a:rPr lang="en-US" sz="1200" dirty="0">
                <a:solidFill>
                  <a:srgbClr val="4B5160"/>
                </a:solidFill>
                <a:latin typeface="Malgun Gothic" pitchFamily="34" charset="0"/>
                <a:ea typeface="Malgun Gothic" pitchFamily="34" charset="-122"/>
                <a:cs typeface="Malgun Gothic" pitchFamily="34" charset="-120"/>
              </a:rPr>
              <a:t>제강 → 가공 → 사용까지 여러</a:t>
            </a:r>
            <a:endParaRPr lang="en-US" sz="1200" dirty="0"/>
          </a:p>
          <a:p>
            <a:pPr indent="0" marL="0">
              <a:buNone/>
            </a:pPr>
            <a:r>
              <a:rPr lang="en-US" sz="1200" dirty="0">
                <a:solidFill>
                  <a:srgbClr val="4B5160"/>
                </a:solidFill>
                <a:latin typeface="Malgun Gothic" pitchFamily="34" charset="0"/>
                <a:ea typeface="Malgun Gothic" pitchFamily="34" charset="-122"/>
                <a:cs typeface="Malgun Gothic" pitchFamily="34" charset="-120"/>
              </a:rPr>
              <a:t>회사를 거치며 진본 책임이 분산됨</a:t>
            </a:r>
            <a:endParaRPr lang="en-US" sz="1200" dirty="0"/>
          </a:p>
        </p:txBody>
      </p:sp>
      <p:sp>
        <p:nvSpPr>
          <p:cNvPr id="20" name="Shape 18"/>
          <p:cNvSpPr/>
          <p:nvPr/>
        </p:nvSpPr>
        <p:spPr>
          <a:xfrm>
            <a:off x="8001000" y="2606040"/>
            <a:ext cx="3566160" cy="2286000"/>
          </a:xfrm>
          <a:prstGeom prst="rect">
            <a:avLst/>
          </a:prstGeom>
          <a:solidFill>
            <a:srgbClr val="FFFFFF"/>
          </a:solidFill>
          <a:ln w="9525">
            <a:solidFill>
              <a:srgbClr val="E1E2E5"/>
            </a:solidFill>
            <a:prstDash val="solid"/>
          </a:ln>
        </p:spPr>
      </p:sp>
      <p:sp>
        <p:nvSpPr>
          <p:cNvPr id="21" name="Shape 19"/>
          <p:cNvSpPr/>
          <p:nvPr/>
        </p:nvSpPr>
        <p:spPr>
          <a:xfrm>
            <a:off x="8001000" y="2606040"/>
            <a:ext cx="3566160" cy="54864"/>
          </a:xfrm>
          <a:prstGeom prst="rect">
            <a:avLst/>
          </a:prstGeom>
          <a:solidFill>
            <a:srgbClr val="0A0A0B"/>
          </a:solidFill>
          <a:ln w="12700">
            <a:solidFill>
              <a:srgbClr val="0A0A0B"/>
            </a:solidFill>
            <a:prstDash val="solid"/>
          </a:ln>
        </p:spPr>
      </p:sp>
      <p:sp>
        <p:nvSpPr>
          <p:cNvPr id="22" name="Text 20"/>
          <p:cNvSpPr/>
          <p:nvPr/>
        </p:nvSpPr>
        <p:spPr>
          <a:xfrm>
            <a:off x="8275320" y="2926080"/>
            <a:ext cx="914400" cy="274320"/>
          </a:xfrm>
          <a:prstGeom prst="rect">
            <a:avLst/>
          </a:prstGeom>
          <a:noFill/>
          <a:ln/>
        </p:spPr>
        <p:txBody>
          <a:bodyPr wrap="square" rtlCol="0" anchor="ctr"/>
          <a:lstStyle/>
          <a:p>
            <a:pPr indent="0" marL="0">
              <a:buNone/>
            </a:pPr>
            <a:r>
              <a:rPr lang="en-US" sz="1100" b="1" spc="300" kern="0" dirty="0">
                <a:solidFill>
                  <a:srgbClr val="80868F"/>
                </a:solidFill>
                <a:latin typeface="Consolas" pitchFamily="34" charset="0"/>
                <a:ea typeface="Consolas" pitchFamily="34" charset="-122"/>
                <a:cs typeface="Consolas" pitchFamily="34" charset="-120"/>
              </a:rPr>
              <a:t>03</a:t>
            </a:r>
            <a:endParaRPr lang="en-US" sz="1100" dirty="0"/>
          </a:p>
        </p:txBody>
      </p:sp>
      <p:sp>
        <p:nvSpPr>
          <p:cNvPr id="23" name="Text 21"/>
          <p:cNvSpPr/>
          <p:nvPr/>
        </p:nvSpPr>
        <p:spPr>
          <a:xfrm>
            <a:off x="8275320" y="3291840"/>
            <a:ext cx="3017520" cy="731520"/>
          </a:xfrm>
          <a:prstGeom prst="rect">
            <a:avLst/>
          </a:prstGeom>
          <a:noFill/>
          <a:ln/>
        </p:spPr>
        <p:txBody>
          <a:bodyPr wrap="square" rtlCol="0" anchor="t"/>
          <a:lstStyle/>
          <a:p>
            <a:pPr indent="0" marL="0">
              <a:buNone/>
            </a:pPr>
            <a:r>
              <a:rPr lang="en-US" sz="1700" b="1" dirty="0">
                <a:solidFill>
                  <a:srgbClr val="0A0A0B"/>
                </a:solidFill>
                <a:latin typeface="Malgun Gothic" pitchFamily="34" charset="0"/>
                <a:ea typeface="Malgun Gothic" pitchFamily="34" charset="-122"/>
                <a:cs typeface="Malgun Gothic" pitchFamily="34" charset="-120"/>
              </a:rPr>
              <a:t>보존 기간이 회사 수명 초과</a:t>
            </a:r>
            <a:endParaRPr lang="en-US" sz="1700" dirty="0"/>
          </a:p>
        </p:txBody>
      </p:sp>
      <p:sp>
        <p:nvSpPr>
          <p:cNvPr id="24" name="Text 22"/>
          <p:cNvSpPr/>
          <p:nvPr/>
        </p:nvSpPr>
        <p:spPr>
          <a:xfrm>
            <a:off x="8275320" y="4023360"/>
            <a:ext cx="3017520" cy="777240"/>
          </a:xfrm>
          <a:prstGeom prst="rect">
            <a:avLst/>
          </a:prstGeom>
          <a:noFill/>
          <a:ln/>
        </p:spPr>
        <p:txBody>
          <a:bodyPr wrap="square" rtlCol="0" anchor="t"/>
          <a:lstStyle/>
          <a:p>
            <a:pPr indent="0" marL="0">
              <a:buNone/>
            </a:pPr>
            <a:r>
              <a:rPr lang="en-US" sz="1200" dirty="0">
                <a:solidFill>
                  <a:srgbClr val="4B5160"/>
                </a:solidFill>
                <a:latin typeface="Malgun Gothic" pitchFamily="34" charset="0"/>
                <a:ea typeface="Malgun Gothic" pitchFamily="34" charset="-122"/>
                <a:cs typeface="Malgun Gothic" pitchFamily="34" charset="-120"/>
              </a:rPr>
              <a:t>설비 수명 20~30년 vs</a:t>
            </a:r>
            <a:endParaRPr lang="en-US" sz="1200" dirty="0"/>
          </a:p>
          <a:p>
            <a:pPr indent="0" marL="0">
              <a:buNone/>
            </a:pPr>
            <a:r>
              <a:rPr lang="en-US" sz="1200" dirty="0">
                <a:solidFill>
                  <a:srgbClr val="4B5160"/>
                </a:solidFill>
                <a:latin typeface="Malgun Gothic" pitchFamily="34" charset="0"/>
                <a:ea typeface="Malgun Gothic" pitchFamily="34" charset="-122"/>
                <a:cs typeface="Malgun Gothic" pitchFamily="34" charset="-120"/>
              </a:rPr>
              <a:t>발행사가 망해도 검증 필요</a:t>
            </a:r>
            <a:endParaRPr lang="en-US" sz="1200" dirty="0"/>
          </a:p>
        </p:txBody>
      </p:sp>
      <p:sp>
        <p:nvSpPr>
          <p:cNvPr id="25" name="Shape 23"/>
          <p:cNvSpPr/>
          <p:nvPr/>
        </p:nvSpPr>
        <p:spPr>
          <a:xfrm>
            <a:off x="594360" y="5166360"/>
            <a:ext cx="10972800" cy="1188720"/>
          </a:xfrm>
          <a:prstGeom prst="rect">
            <a:avLst/>
          </a:prstGeom>
          <a:solidFill>
            <a:srgbClr val="0A0A0B"/>
          </a:solidFill>
          <a:ln w="12700">
            <a:solidFill>
              <a:srgbClr val="0A0A0B"/>
            </a:solidFill>
            <a:prstDash val="solid"/>
          </a:ln>
        </p:spPr>
      </p:sp>
      <p:sp>
        <p:nvSpPr>
          <p:cNvPr id="26" name="Text 24"/>
          <p:cNvSpPr/>
          <p:nvPr/>
        </p:nvSpPr>
        <p:spPr>
          <a:xfrm>
            <a:off x="868680" y="5303520"/>
            <a:ext cx="3657600" cy="274320"/>
          </a:xfrm>
          <a:prstGeom prst="rect">
            <a:avLst/>
          </a:prstGeom>
          <a:noFill/>
          <a:ln/>
        </p:spPr>
        <p:txBody>
          <a:bodyPr wrap="square" rtlCol="0" anchor="ctr"/>
          <a:lstStyle/>
          <a:p>
            <a:pPr indent="0" marL="0">
              <a:buNone/>
            </a:pPr>
            <a:r>
              <a:rPr lang="en-US" sz="1000" b="1" spc="300" kern="0" dirty="0">
                <a:solidFill>
                  <a:srgbClr val="AAAAAA"/>
                </a:solidFill>
                <a:latin typeface="Consolas" pitchFamily="34" charset="0"/>
                <a:ea typeface="Consolas" pitchFamily="34" charset="-122"/>
                <a:cs typeface="Consolas" pitchFamily="34" charset="-120"/>
              </a:rPr>
              <a:t>BLOCKCHAIN SOLUTION</a:t>
            </a:r>
            <a:endParaRPr lang="en-US" sz="1000" dirty="0"/>
          </a:p>
        </p:txBody>
      </p:sp>
      <p:sp>
        <p:nvSpPr>
          <p:cNvPr id="27" name="Text 25"/>
          <p:cNvSpPr/>
          <p:nvPr/>
        </p:nvSpPr>
        <p:spPr>
          <a:xfrm>
            <a:off x="868680" y="5577840"/>
            <a:ext cx="10424160" cy="411480"/>
          </a:xfrm>
          <a:prstGeom prst="rect">
            <a:avLst/>
          </a:prstGeom>
          <a:noFill/>
          <a:ln/>
        </p:spPr>
        <p:txBody>
          <a:bodyPr wrap="square"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온체인 </a:t>
            </a:r>
            <a:pPr indent="0" marL="0">
              <a:buNone/>
            </a:pPr>
            <a:r>
              <a:rPr lang="en-US" sz="1400" dirty="0">
                <a:solidFill>
                  <a:srgbClr val="CCCCCC"/>
                </a:solidFill>
                <a:latin typeface="Malgun Gothic" pitchFamily="34" charset="0"/>
                <a:ea typeface="Malgun Gothic" pitchFamily="34" charset="-122"/>
                <a:cs typeface="Malgun Gothic" pitchFamily="34" charset="-120"/>
              </a:rPr>
              <a:t>PDF 해시 + 메타데이터 (300B) </a:t>
            </a:r>
            <a:pPr indent="0" marL="0">
              <a:buNone/>
            </a:pPr>
            <a:r>
              <a:rPr lang="en-US" sz="1400" dirty="0">
                <a:solidFill>
                  <a:srgbClr val="888888"/>
                </a:solidFill>
                <a:latin typeface="Malgun Gothic" pitchFamily="34" charset="0"/>
                <a:ea typeface="Malgun Gothic" pitchFamily="34" charset="-122"/>
                <a:cs typeface="Malgun Gothic" pitchFamily="34" charset="-120"/>
              </a:rPr>
              <a:t> ·  </a:t>
            </a:r>
            <a:pPr indent="0" marL="0">
              <a:buNone/>
            </a:pPr>
            <a:r>
              <a:rPr lang="en-US" sz="1400" b="1" dirty="0">
                <a:solidFill>
                  <a:srgbClr val="FFFFFF"/>
                </a:solidFill>
                <a:latin typeface="Malgun Gothic" pitchFamily="34" charset="0"/>
                <a:ea typeface="Malgun Gothic" pitchFamily="34" charset="-122"/>
                <a:cs typeface="Malgun Gothic" pitchFamily="34" charset="-120"/>
              </a:rPr>
              <a:t>오프체인 </a:t>
            </a:r>
            <a:pPr indent="0" marL="0">
              <a:buNone/>
            </a:pPr>
            <a:r>
              <a:rPr lang="en-US" sz="1400" dirty="0">
                <a:solidFill>
                  <a:srgbClr val="CCCCCC"/>
                </a:solidFill>
                <a:latin typeface="Malgun Gothic" pitchFamily="34" charset="0"/>
                <a:ea typeface="Malgun Gothic" pitchFamily="34" charset="-122"/>
                <a:cs typeface="Malgun Gothic" pitchFamily="34" charset="-120"/>
              </a:rPr>
              <a:t>PDF 원본은 IPFS 분산 저장</a:t>
            </a:r>
            <a:endParaRPr lang="en-US" sz="1400" dirty="0"/>
          </a:p>
        </p:txBody>
      </p:sp>
      <p:sp>
        <p:nvSpPr>
          <p:cNvPr id="28" name="Text 26"/>
          <p:cNvSpPr/>
          <p:nvPr/>
        </p:nvSpPr>
        <p:spPr>
          <a:xfrm>
            <a:off x="868680" y="5943600"/>
            <a:ext cx="10424160" cy="274320"/>
          </a:xfrm>
          <a:prstGeom prst="rect">
            <a:avLst/>
          </a:prstGeom>
          <a:noFill/>
          <a:ln/>
        </p:spPr>
        <p:txBody>
          <a:bodyPr wrap="square" rtlCol="0" anchor="ctr"/>
          <a:lstStyle/>
          <a:p>
            <a:pPr indent="0" marL="0">
              <a:buNone/>
            </a:pPr>
            <a:r>
              <a:rPr lang="en-US" sz="1100" i="1" dirty="0">
                <a:solidFill>
                  <a:srgbClr val="AAAAAA"/>
                </a:solidFill>
                <a:latin typeface="Malgun Gothic" pitchFamily="34" charset="0"/>
                <a:ea typeface="Malgun Gothic" pitchFamily="34" charset="-122"/>
                <a:cs typeface="Malgun Gothic" pitchFamily="34" charset="-120"/>
              </a:rPr>
              <a:t>데이터의 봉인 · 타임스탬프 · 단일 운영자 의존 제거</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064240" y="274320"/>
            <a:ext cx="822960" cy="274320"/>
          </a:xfrm>
          <a:prstGeom prst="rect">
            <a:avLst/>
          </a:prstGeom>
          <a:noFill/>
          <a:ln/>
        </p:spPr>
        <p:txBody>
          <a:bodyPr wrap="square" rtlCol="0" anchor="ctr"/>
          <a:lstStyle/>
          <a:p>
            <a:pPr algn="r" indent="0" marL="0">
              <a:buNone/>
            </a:pPr>
            <a:r>
              <a:rPr lang="en-US" sz="1000" dirty="0">
                <a:solidFill>
                  <a:srgbClr val="80868F"/>
                </a:solidFill>
                <a:latin typeface="Malgun Gothic" pitchFamily="34" charset="0"/>
                <a:ea typeface="Malgun Gothic" pitchFamily="34" charset="-122"/>
                <a:cs typeface="Malgun Gothic" pitchFamily="34" charset="-120"/>
              </a:rPr>
              <a:t>04 / 07</a:t>
            </a:r>
            <a:endParaRPr lang="en-US" sz="1000" dirty="0"/>
          </a:p>
        </p:txBody>
      </p:sp>
      <p:sp>
        <p:nvSpPr>
          <p:cNvPr id="3" name="Text 1"/>
          <p:cNvSpPr/>
          <p:nvPr/>
        </p:nvSpPr>
        <p:spPr>
          <a:xfrm>
            <a:off x="548640" y="274320"/>
            <a:ext cx="2743200" cy="274320"/>
          </a:xfrm>
          <a:prstGeom prst="rect">
            <a:avLst/>
          </a:prstGeom>
          <a:noFill/>
          <a:ln/>
        </p:spPr>
        <p:txBody>
          <a:bodyPr wrap="square" rtlCol="0" anchor="ctr"/>
          <a:lstStyle/>
          <a:p>
            <a:pPr indent="0" marL="0">
              <a:buNone/>
            </a:pPr>
            <a:r>
              <a:rPr lang="en-US" sz="1000" b="1" spc="200" kern="0" dirty="0">
                <a:solidFill>
                  <a:srgbClr val="80868F"/>
                </a:solidFill>
                <a:latin typeface="Malgun Gothic" pitchFamily="34" charset="0"/>
                <a:ea typeface="Malgun Gothic" pitchFamily="34" charset="-122"/>
                <a:cs typeface="Malgun Gothic" pitchFamily="34" charset="-120"/>
              </a:rPr>
              <a:t>MTC Chain</a:t>
            </a:r>
            <a:endParaRPr lang="en-US" sz="1000" dirty="0"/>
          </a:p>
        </p:txBody>
      </p:sp>
      <p:sp>
        <p:nvSpPr>
          <p:cNvPr id="4" name="Shape 2"/>
          <p:cNvSpPr/>
          <p:nvPr/>
        </p:nvSpPr>
        <p:spPr>
          <a:xfrm>
            <a:off x="548640" y="6400800"/>
            <a:ext cx="11064240" cy="0"/>
          </a:xfrm>
          <a:prstGeom prst="line">
            <a:avLst/>
          </a:prstGeom>
          <a:noFill/>
          <a:ln w="6350">
            <a:solidFill>
              <a:srgbClr val="EAECEF"/>
            </a:solidFill>
            <a:prstDash val="solid"/>
          </a:ln>
        </p:spPr>
      </p:sp>
      <p:sp>
        <p:nvSpPr>
          <p:cNvPr id="5" name="Text 3"/>
          <p:cNvSpPr/>
          <p:nvPr/>
        </p:nvSpPr>
        <p:spPr>
          <a:xfrm>
            <a:off x="548640" y="6492240"/>
            <a:ext cx="5486400" cy="228600"/>
          </a:xfrm>
          <a:prstGeom prst="rect">
            <a:avLst/>
          </a:prstGeom>
          <a:noFill/>
          <a:ln/>
        </p:spPr>
        <p:txBody>
          <a:bodyPr wrap="square" rtlCol="0" anchor="ctr"/>
          <a:lstStyle/>
          <a:p>
            <a:pPr indent="0" marL="0">
              <a:buNone/>
            </a:pPr>
            <a:r>
              <a:rPr lang="en-US" sz="900" dirty="0">
                <a:solidFill>
                  <a:srgbClr val="80868F"/>
                </a:solidFill>
                <a:latin typeface="Malgun Gothic" pitchFamily="34" charset="0"/>
                <a:ea typeface="Malgun Gothic" pitchFamily="34" charset="-122"/>
                <a:cs typeface="Malgun Gothic" pitchFamily="34" charset="-120"/>
              </a:rPr>
              <a:t>임시우 · 20233530 · 호서대학교</a:t>
            </a:r>
            <a:endParaRPr lang="en-US" sz="900" dirty="0"/>
          </a:p>
        </p:txBody>
      </p:sp>
      <p:sp>
        <p:nvSpPr>
          <p:cNvPr id="6" name="Text 4"/>
          <p:cNvSpPr/>
          <p:nvPr/>
        </p:nvSpPr>
        <p:spPr>
          <a:xfrm>
            <a:off x="7955280" y="6492240"/>
            <a:ext cx="3657600" cy="228600"/>
          </a:xfrm>
          <a:prstGeom prst="rect">
            <a:avLst/>
          </a:prstGeom>
          <a:noFill/>
          <a:ln/>
        </p:spPr>
        <p:txBody>
          <a:bodyPr wrap="square" rtlCol="0" anchor="ctr"/>
          <a:lstStyle/>
          <a:p>
            <a:pPr algn="r" indent="0" marL="0">
              <a:buNone/>
            </a:pPr>
            <a:r>
              <a:rPr lang="en-US" sz="900" dirty="0">
                <a:solidFill>
                  <a:srgbClr val="80868F"/>
                </a:solidFill>
                <a:latin typeface="Malgun Gothic" pitchFamily="34" charset="0"/>
                <a:ea typeface="Malgun Gothic" pitchFamily="34" charset="-122"/>
                <a:cs typeface="Malgun Gothic" pitchFamily="34" charset="-120"/>
              </a:rPr>
              <a:t>Blockchain Application · 2026</a:t>
            </a:r>
            <a:endParaRPr lang="en-US" sz="900" dirty="0"/>
          </a:p>
        </p:txBody>
      </p:sp>
      <p:sp>
        <p:nvSpPr>
          <p:cNvPr id="7" name="Text 5"/>
          <p:cNvSpPr/>
          <p:nvPr/>
        </p:nvSpPr>
        <p:spPr>
          <a:xfrm>
            <a:off x="548640" y="777240"/>
            <a:ext cx="914400" cy="457200"/>
          </a:xfrm>
          <a:prstGeom prst="rect">
            <a:avLst/>
          </a:prstGeom>
          <a:noFill/>
          <a:ln/>
        </p:spPr>
        <p:txBody>
          <a:bodyPr wrap="square" rtlCol="0" anchor="ctr"/>
          <a:lstStyle/>
          <a:p>
            <a:pPr indent="0" marL="0">
              <a:buNone/>
            </a:pPr>
            <a:r>
              <a:rPr lang="en-US" sz="1400" spc="300" kern="0" dirty="0">
                <a:solidFill>
                  <a:srgbClr val="80868F"/>
                </a:solidFill>
                <a:latin typeface="Consolas" pitchFamily="34" charset="0"/>
                <a:ea typeface="Consolas" pitchFamily="34" charset="-122"/>
                <a:cs typeface="Consolas" pitchFamily="34" charset="-120"/>
              </a:rPr>
              <a:t>03</a:t>
            </a:r>
            <a:endParaRPr lang="en-US" sz="1400" dirty="0"/>
          </a:p>
        </p:txBody>
      </p:sp>
      <p:sp>
        <p:nvSpPr>
          <p:cNvPr id="8" name="Text 6"/>
          <p:cNvSpPr/>
          <p:nvPr/>
        </p:nvSpPr>
        <p:spPr>
          <a:xfrm>
            <a:off x="548640" y="1143000"/>
            <a:ext cx="9144000" cy="640080"/>
          </a:xfrm>
          <a:prstGeom prst="rect">
            <a:avLst/>
          </a:prstGeom>
          <a:noFill/>
          <a:ln/>
        </p:spPr>
        <p:txBody>
          <a:bodyPr wrap="square" rtlCol="0" anchor="ctr"/>
          <a:lstStyle/>
          <a:p>
            <a:pPr indent="0" marL="0">
              <a:buNone/>
            </a:pPr>
            <a:r>
              <a:rPr lang="en-US" sz="3600" b="1" dirty="0">
                <a:solidFill>
                  <a:srgbClr val="0A0A0B"/>
                </a:solidFill>
                <a:latin typeface="Malgun Gothic" pitchFamily="34" charset="0"/>
                <a:ea typeface="Malgun Gothic" pitchFamily="34" charset="-122"/>
                <a:cs typeface="Malgun Gothic" pitchFamily="34" charset="-120"/>
              </a:rPr>
              <a:t>시스템 구성</a:t>
            </a:r>
            <a:endParaRPr lang="en-US" sz="3600" dirty="0"/>
          </a:p>
        </p:txBody>
      </p:sp>
      <p:sp>
        <p:nvSpPr>
          <p:cNvPr id="9" name="Text 7"/>
          <p:cNvSpPr/>
          <p:nvPr/>
        </p:nvSpPr>
        <p:spPr>
          <a:xfrm>
            <a:off x="548640" y="1783080"/>
            <a:ext cx="9144000" cy="365760"/>
          </a:xfrm>
          <a:prstGeom prst="rect">
            <a:avLst/>
          </a:prstGeom>
          <a:noFill/>
          <a:ln/>
        </p:spPr>
        <p:txBody>
          <a:bodyPr wrap="square" rtlCol="0" anchor="ctr"/>
          <a:lstStyle/>
          <a:p>
            <a:pPr indent="0" marL="0">
              <a:buNone/>
            </a:pPr>
            <a:r>
              <a:rPr lang="en-US" sz="1500" dirty="0">
                <a:solidFill>
                  <a:srgbClr val="4B5160"/>
                </a:solidFill>
                <a:latin typeface="Malgun Gothic" pitchFamily="34" charset="0"/>
                <a:ea typeface="Malgun Gothic" pitchFamily="34" charset="-122"/>
                <a:cs typeface="Malgun Gothic" pitchFamily="34" charset="-120"/>
              </a:rPr>
              <a:t>9개 화면 · 5개 핵심 기능 · 3계층 아키텍처</a:t>
            </a:r>
            <a:endParaRPr lang="en-US" sz="1500" dirty="0"/>
          </a:p>
        </p:txBody>
      </p:sp>
      <p:sp>
        <p:nvSpPr>
          <p:cNvPr id="10" name="Text 8"/>
          <p:cNvSpPr/>
          <p:nvPr/>
        </p:nvSpPr>
        <p:spPr>
          <a:xfrm>
            <a:off x="548640" y="2606040"/>
            <a:ext cx="4572000" cy="274320"/>
          </a:xfrm>
          <a:prstGeom prst="rect">
            <a:avLst/>
          </a:prstGeom>
          <a:noFill/>
          <a:ln/>
        </p:spPr>
        <p:txBody>
          <a:bodyPr wrap="square" rtlCol="0" anchor="ctr"/>
          <a:lstStyle/>
          <a:p>
            <a:pPr indent="0" marL="0">
              <a:buNone/>
            </a:pPr>
            <a:r>
              <a:rPr lang="en-US" sz="1000" b="1" spc="300" kern="0" dirty="0">
                <a:solidFill>
                  <a:srgbClr val="80868F"/>
                </a:solidFill>
                <a:latin typeface="Consolas" pitchFamily="34" charset="0"/>
                <a:ea typeface="Consolas" pitchFamily="34" charset="-122"/>
                <a:cs typeface="Consolas" pitchFamily="34" charset="-120"/>
              </a:rPr>
              <a:t>CORE FUNCTIONS</a:t>
            </a:r>
            <a:endParaRPr lang="en-US" sz="1000" dirty="0"/>
          </a:p>
        </p:txBody>
      </p:sp>
      <p:sp>
        <p:nvSpPr>
          <p:cNvPr id="11" name="Shape 9"/>
          <p:cNvSpPr/>
          <p:nvPr/>
        </p:nvSpPr>
        <p:spPr>
          <a:xfrm>
            <a:off x="548640" y="2926080"/>
            <a:ext cx="5486400" cy="594360"/>
          </a:xfrm>
          <a:prstGeom prst="rect">
            <a:avLst/>
          </a:prstGeom>
          <a:solidFill>
            <a:srgbClr val="FFFFFF"/>
          </a:solidFill>
          <a:ln w="6350">
            <a:solidFill>
              <a:srgbClr val="E1E2E5"/>
            </a:solidFill>
            <a:prstDash val="solid"/>
          </a:ln>
        </p:spPr>
      </p:sp>
      <p:sp>
        <p:nvSpPr>
          <p:cNvPr id="12" name="Text 10"/>
          <p:cNvSpPr/>
          <p:nvPr/>
        </p:nvSpPr>
        <p:spPr>
          <a:xfrm>
            <a:off x="731520" y="3035808"/>
            <a:ext cx="1371600" cy="365760"/>
          </a:xfrm>
          <a:prstGeom prst="rect">
            <a:avLst/>
          </a:prstGeom>
          <a:noFill/>
          <a:ln/>
        </p:spPr>
        <p:txBody>
          <a:bodyPr wrap="square" rtlCol="0" anchor="ctr"/>
          <a:lstStyle/>
          <a:p>
            <a:pPr indent="0" marL="0">
              <a:buNone/>
            </a:pPr>
            <a:r>
              <a:rPr lang="en-US" sz="1100" b="1" spc="200" kern="0" dirty="0">
                <a:solidFill>
                  <a:srgbClr val="0A0A0B"/>
                </a:solidFill>
                <a:latin typeface="Consolas" pitchFamily="34" charset="0"/>
                <a:ea typeface="Consolas" pitchFamily="34" charset="-122"/>
                <a:cs typeface="Consolas" pitchFamily="34" charset="-120"/>
              </a:rPr>
              <a:t>MINT</a:t>
            </a:r>
            <a:endParaRPr lang="en-US" sz="1100" dirty="0"/>
          </a:p>
        </p:txBody>
      </p:sp>
      <p:sp>
        <p:nvSpPr>
          <p:cNvPr id="13" name="Text 11"/>
          <p:cNvSpPr/>
          <p:nvPr/>
        </p:nvSpPr>
        <p:spPr>
          <a:xfrm>
            <a:off x="2194560" y="3035808"/>
            <a:ext cx="914400" cy="365760"/>
          </a:xfrm>
          <a:prstGeom prst="rect">
            <a:avLst/>
          </a:prstGeom>
          <a:noFill/>
          <a:ln/>
        </p:spPr>
        <p:txBody>
          <a:bodyPr wrap="square" rtlCol="0" anchor="ctr"/>
          <a:lstStyle/>
          <a:p>
            <a:pPr indent="0" marL="0">
              <a:buNone/>
            </a:pPr>
            <a:r>
              <a:rPr lang="en-US" sz="1400" b="1" dirty="0">
                <a:solidFill>
                  <a:srgbClr val="0A0A0B"/>
                </a:solidFill>
                <a:latin typeface="Malgun Gothic" pitchFamily="34" charset="0"/>
                <a:ea typeface="Malgun Gothic" pitchFamily="34" charset="-122"/>
                <a:cs typeface="Malgun Gothic" pitchFamily="34" charset="-120"/>
              </a:rPr>
              <a:t>발행</a:t>
            </a:r>
            <a:endParaRPr lang="en-US" sz="1400" dirty="0"/>
          </a:p>
        </p:txBody>
      </p:sp>
      <p:sp>
        <p:nvSpPr>
          <p:cNvPr id="14" name="Text 12"/>
          <p:cNvSpPr/>
          <p:nvPr/>
        </p:nvSpPr>
        <p:spPr>
          <a:xfrm>
            <a:off x="3108960" y="3063240"/>
            <a:ext cx="2743200" cy="320040"/>
          </a:xfrm>
          <a:prstGeom prst="rect">
            <a:avLst/>
          </a:prstGeom>
          <a:noFill/>
          <a:ln/>
        </p:spPr>
        <p:txBody>
          <a:bodyPr wrap="square" rtlCol="0" anchor="ctr"/>
          <a:lstStyle/>
          <a:p>
            <a:pPr indent="0" marL="0">
              <a:buNone/>
            </a:pPr>
            <a:r>
              <a:rPr lang="en-US" sz="1100" dirty="0">
                <a:solidFill>
                  <a:srgbClr val="4B5160"/>
                </a:solidFill>
                <a:latin typeface="Malgun Gothic" pitchFamily="34" charset="0"/>
                <a:ea typeface="Malgun Gothic" pitchFamily="34" charset="-122"/>
                <a:cs typeface="Malgun Gothic" pitchFamily="34" charset="-120"/>
              </a:rPr>
              <a:t>제강사가 신규 강재 MTC 발행</a:t>
            </a:r>
            <a:endParaRPr lang="en-US" sz="1100" dirty="0"/>
          </a:p>
        </p:txBody>
      </p:sp>
      <p:sp>
        <p:nvSpPr>
          <p:cNvPr id="15" name="Shape 13"/>
          <p:cNvSpPr/>
          <p:nvPr/>
        </p:nvSpPr>
        <p:spPr>
          <a:xfrm>
            <a:off x="548640" y="3566160"/>
            <a:ext cx="5486400" cy="594360"/>
          </a:xfrm>
          <a:prstGeom prst="rect">
            <a:avLst/>
          </a:prstGeom>
          <a:solidFill>
            <a:srgbClr val="FFFFFF"/>
          </a:solidFill>
          <a:ln w="6350">
            <a:solidFill>
              <a:srgbClr val="E1E2E5"/>
            </a:solidFill>
            <a:prstDash val="solid"/>
          </a:ln>
        </p:spPr>
      </p:sp>
      <p:sp>
        <p:nvSpPr>
          <p:cNvPr id="16" name="Text 14"/>
          <p:cNvSpPr/>
          <p:nvPr/>
        </p:nvSpPr>
        <p:spPr>
          <a:xfrm>
            <a:off x="731520" y="3675888"/>
            <a:ext cx="1371600" cy="365760"/>
          </a:xfrm>
          <a:prstGeom prst="rect">
            <a:avLst/>
          </a:prstGeom>
          <a:noFill/>
          <a:ln/>
        </p:spPr>
        <p:txBody>
          <a:bodyPr wrap="square" rtlCol="0" anchor="ctr"/>
          <a:lstStyle/>
          <a:p>
            <a:pPr indent="0" marL="0">
              <a:buNone/>
            </a:pPr>
            <a:r>
              <a:rPr lang="en-US" sz="1100" b="1" spc="200" kern="0" dirty="0">
                <a:solidFill>
                  <a:srgbClr val="0A0A0B"/>
                </a:solidFill>
                <a:latin typeface="Consolas" pitchFamily="34" charset="0"/>
                <a:ea typeface="Consolas" pitchFamily="34" charset="-122"/>
                <a:cs typeface="Consolas" pitchFamily="34" charset="-120"/>
              </a:rPr>
              <a:t>SPLIT</a:t>
            </a:r>
            <a:endParaRPr lang="en-US" sz="1100" dirty="0"/>
          </a:p>
        </p:txBody>
      </p:sp>
      <p:sp>
        <p:nvSpPr>
          <p:cNvPr id="17" name="Text 15"/>
          <p:cNvSpPr/>
          <p:nvPr/>
        </p:nvSpPr>
        <p:spPr>
          <a:xfrm>
            <a:off x="2194560" y="3675888"/>
            <a:ext cx="914400" cy="365760"/>
          </a:xfrm>
          <a:prstGeom prst="rect">
            <a:avLst/>
          </a:prstGeom>
          <a:noFill/>
          <a:ln/>
        </p:spPr>
        <p:txBody>
          <a:bodyPr wrap="square" rtlCol="0" anchor="ctr"/>
          <a:lstStyle/>
          <a:p>
            <a:pPr indent="0" marL="0">
              <a:buNone/>
            </a:pPr>
            <a:r>
              <a:rPr lang="en-US" sz="1400" b="1" dirty="0">
                <a:solidFill>
                  <a:srgbClr val="0A0A0B"/>
                </a:solidFill>
                <a:latin typeface="Malgun Gothic" pitchFamily="34" charset="0"/>
                <a:ea typeface="Malgun Gothic" pitchFamily="34" charset="-122"/>
                <a:cs typeface="Malgun Gothic" pitchFamily="34" charset="-120"/>
              </a:rPr>
              <a:t>분할</a:t>
            </a:r>
            <a:endParaRPr lang="en-US" sz="1400" dirty="0"/>
          </a:p>
        </p:txBody>
      </p:sp>
      <p:sp>
        <p:nvSpPr>
          <p:cNvPr id="18" name="Text 16"/>
          <p:cNvSpPr/>
          <p:nvPr/>
        </p:nvSpPr>
        <p:spPr>
          <a:xfrm>
            <a:off x="3108960" y="3703320"/>
            <a:ext cx="2743200" cy="320040"/>
          </a:xfrm>
          <a:prstGeom prst="rect">
            <a:avLst/>
          </a:prstGeom>
          <a:noFill/>
          <a:ln/>
        </p:spPr>
        <p:txBody>
          <a:bodyPr wrap="square" rtlCol="0" anchor="ctr"/>
          <a:lstStyle/>
          <a:p>
            <a:pPr indent="0" marL="0">
              <a:buNone/>
            </a:pPr>
            <a:r>
              <a:rPr lang="en-US" sz="1100" dirty="0">
                <a:solidFill>
                  <a:srgbClr val="4B5160"/>
                </a:solidFill>
                <a:latin typeface="Malgun Gothic" pitchFamily="34" charset="0"/>
                <a:ea typeface="Malgun Gothic" pitchFamily="34" charset="-122"/>
                <a:cs typeface="Malgun Gothic" pitchFamily="34" charset="-120"/>
              </a:rPr>
              <a:t>1 → N 분할 (가공 단계)</a:t>
            </a:r>
            <a:endParaRPr lang="en-US" sz="1100" dirty="0"/>
          </a:p>
        </p:txBody>
      </p:sp>
      <p:sp>
        <p:nvSpPr>
          <p:cNvPr id="19" name="Shape 17"/>
          <p:cNvSpPr/>
          <p:nvPr/>
        </p:nvSpPr>
        <p:spPr>
          <a:xfrm>
            <a:off x="548640" y="4206240"/>
            <a:ext cx="5486400" cy="594360"/>
          </a:xfrm>
          <a:prstGeom prst="rect">
            <a:avLst/>
          </a:prstGeom>
          <a:solidFill>
            <a:srgbClr val="FFFFFF"/>
          </a:solidFill>
          <a:ln w="6350">
            <a:solidFill>
              <a:srgbClr val="E1E2E5"/>
            </a:solidFill>
            <a:prstDash val="solid"/>
          </a:ln>
        </p:spPr>
      </p:sp>
      <p:sp>
        <p:nvSpPr>
          <p:cNvPr id="20" name="Text 18"/>
          <p:cNvSpPr/>
          <p:nvPr/>
        </p:nvSpPr>
        <p:spPr>
          <a:xfrm>
            <a:off x="731520" y="4315968"/>
            <a:ext cx="1371600" cy="365760"/>
          </a:xfrm>
          <a:prstGeom prst="rect">
            <a:avLst/>
          </a:prstGeom>
          <a:noFill/>
          <a:ln/>
        </p:spPr>
        <p:txBody>
          <a:bodyPr wrap="square" rtlCol="0" anchor="ctr"/>
          <a:lstStyle/>
          <a:p>
            <a:pPr indent="0" marL="0">
              <a:buNone/>
            </a:pPr>
            <a:r>
              <a:rPr lang="en-US" sz="1100" b="1" spc="200" kern="0" dirty="0">
                <a:solidFill>
                  <a:srgbClr val="0A0A0B"/>
                </a:solidFill>
                <a:latin typeface="Consolas" pitchFamily="34" charset="0"/>
                <a:ea typeface="Consolas" pitchFamily="34" charset="-122"/>
                <a:cs typeface="Consolas" pitchFamily="34" charset="-120"/>
              </a:rPr>
              <a:t>COMBINE</a:t>
            </a:r>
            <a:endParaRPr lang="en-US" sz="1100" dirty="0"/>
          </a:p>
        </p:txBody>
      </p:sp>
      <p:sp>
        <p:nvSpPr>
          <p:cNvPr id="21" name="Text 19"/>
          <p:cNvSpPr/>
          <p:nvPr/>
        </p:nvSpPr>
        <p:spPr>
          <a:xfrm>
            <a:off x="2194560" y="4315968"/>
            <a:ext cx="914400" cy="365760"/>
          </a:xfrm>
          <a:prstGeom prst="rect">
            <a:avLst/>
          </a:prstGeom>
          <a:noFill/>
          <a:ln/>
        </p:spPr>
        <p:txBody>
          <a:bodyPr wrap="square" rtlCol="0" anchor="ctr"/>
          <a:lstStyle/>
          <a:p>
            <a:pPr indent="0" marL="0">
              <a:buNone/>
            </a:pPr>
            <a:r>
              <a:rPr lang="en-US" sz="1400" b="1" dirty="0">
                <a:solidFill>
                  <a:srgbClr val="0A0A0B"/>
                </a:solidFill>
                <a:latin typeface="Malgun Gothic" pitchFamily="34" charset="0"/>
                <a:ea typeface="Malgun Gothic" pitchFamily="34" charset="-122"/>
                <a:cs typeface="Malgun Gothic" pitchFamily="34" charset="-120"/>
              </a:rPr>
              <a:t>조합</a:t>
            </a:r>
            <a:endParaRPr lang="en-US" sz="1400" dirty="0"/>
          </a:p>
        </p:txBody>
      </p:sp>
      <p:sp>
        <p:nvSpPr>
          <p:cNvPr id="22" name="Text 20"/>
          <p:cNvSpPr/>
          <p:nvPr/>
        </p:nvSpPr>
        <p:spPr>
          <a:xfrm>
            <a:off x="3108960" y="4343400"/>
            <a:ext cx="2743200" cy="320040"/>
          </a:xfrm>
          <a:prstGeom prst="rect">
            <a:avLst/>
          </a:prstGeom>
          <a:noFill/>
          <a:ln/>
        </p:spPr>
        <p:txBody>
          <a:bodyPr wrap="square" rtlCol="0" anchor="ctr"/>
          <a:lstStyle/>
          <a:p>
            <a:pPr indent="0" marL="0">
              <a:buNone/>
            </a:pPr>
            <a:r>
              <a:rPr lang="en-US" sz="1100" dirty="0">
                <a:solidFill>
                  <a:srgbClr val="4B5160"/>
                </a:solidFill>
                <a:latin typeface="Malgun Gothic" pitchFamily="34" charset="0"/>
                <a:ea typeface="Malgun Gothic" pitchFamily="34" charset="-122"/>
                <a:cs typeface="Malgun Gothic" pitchFamily="34" charset="-120"/>
              </a:rPr>
              <a:t>N → 1 조합 (조립 단계)</a:t>
            </a:r>
            <a:endParaRPr lang="en-US" sz="1100" dirty="0"/>
          </a:p>
        </p:txBody>
      </p:sp>
      <p:sp>
        <p:nvSpPr>
          <p:cNvPr id="23" name="Shape 21"/>
          <p:cNvSpPr/>
          <p:nvPr/>
        </p:nvSpPr>
        <p:spPr>
          <a:xfrm>
            <a:off x="548640" y="4846320"/>
            <a:ext cx="5486400" cy="594360"/>
          </a:xfrm>
          <a:prstGeom prst="rect">
            <a:avLst/>
          </a:prstGeom>
          <a:solidFill>
            <a:srgbClr val="FFFFFF"/>
          </a:solidFill>
          <a:ln w="6350">
            <a:solidFill>
              <a:srgbClr val="E1E2E5"/>
            </a:solidFill>
            <a:prstDash val="solid"/>
          </a:ln>
        </p:spPr>
      </p:sp>
      <p:sp>
        <p:nvSpPr>
          <p:cNvPr id="24" name="Text 22"/>
          <p:cNvSpPr/>
          <p:nvPr/>
        </p:nvSpPr>
        <p:spPr>
          <a:xfrm>
            <a:off x="731520" y="4956048"/>
            <a:ext cx="1371600" cy="365760"/>
          </a:xfrm>
          <a:prstGeom prst="rect">
            <a:avLst/>
          </a:prstGeom>
          <a:noFill/>
          <a:ln/>
        </p:spPr>
        <p:txBody>
          <a:bodyPr wrap="square" rtlCol="0" anchor="ctr"/>
          <a:lstStyle/>
          <a:p>
            <a:pPr indent="0" marL="0">
              <a:buNone/>
            </a:pPr>
            <a:r>
              <a:rPr lang="en-US" sz="1100" b="1" spc="200" kern="0" dirty="0">
                <a:solidFill>
                  <a:srgbClr val="0A0A0B"/>
                </a:solidFill>
                <a:latin typeface="Consolas" pitchFamily="34" charset="0"/>
                <a:ea typeface="Consolas" pitchFamily="34" charset="-122"/>
                <a:cs typeface="Consolas" pitchFamily="34" charset="-120"/>
              </a:rPr>
              <a:t>TRANSFER</a:t>
            </a:r>
            <a:endParaRPr lang="en-US" sz="1100" dirty="0"/>
          </a:p>
        </p:txBody>
      </p:sp>
      <p:sp>
        <p:nvSpPr>
          <p:cNvPr id="25" name="Text 23"/>
          <p:cNvSpPr/>
          <p:nvPr/>
        </p:nvSpPr>
        <p:spPr>
          <a:xfrm>
            <a:off x="2194560" y="4956048"/>
            <a:ext cx="914400" cy="365760"/>
          </a:xfrm>
          <a:prstGeom prst="rect">
            <a:avLst/>
          </a:prstGeom>
          <a:noFill/>
          <a:ln/>
        </p:spPr>
        <p:txBody>
          <a:bodyPr wrap="square" rtlCol="0" anchor="ctr"/>
          <a:lstStyle/>
          <a:p>
            <a:pPr indent="0" marL="0">
              <a:buNone/>
            </a:pPr>
            <a:r>
              <a:rPr lang="en-US" sz="1400" b="1" dirty="0">
                <a:solidFill>
                  <a:srgbClr val="0A0A0B"/>
                </a:solidFill>
                <a:latin typeface="Malgun Gothic" pitchFamily="34" charset="0"/>
                <a:ea typeface="Malgun Gothic" pitchFamily="34" charset="-122"/>
                <a:cs typeface="Malgun Gothic" pitchFamily="34" charset="-120"/>
              </a:rPr>
              <a:t>이전</a:t>
            </a:r>
            <a:endParaRPr lang="en-US" sz="1400" dirty="0"/>
          </a:p>
        </p:txBody>
      </p:sp>
      <p:sp>
        <p:nvSpPr>
          <p:cNvPr id="26" name="Text 24"/>
          <p:cNvSpPr/>
          <p:nvPr/>
        </p:nvSpPr>
        <p:spPr>
          <a:xfrm>
            <a:off x="3108960" y="4983480"/>
            <a:ext cx="2743200" cy="320040"/>
          </a:xfrm>
          <a:prstGeom prst="rect">
            <a:avLst/>
          </a:prstGeom>
          <a:noFill/>
          <a:ln/>
        </p:spPr>
        <p:txBody>
          <a:bodyPr wrap="square" rtlCol="0" anchor="ctr"/>
          <a:lstStyle/>
          <a:p>
            <a:pPr indent="0" marL="0">
              <a:buNone/>
            </a:pPr>
            <a:r>
              <a:rPr lang="en-US" sz="1100" dirty="0">
                <a:solidFill>
                  <a:srgbClr val="4B5160"/>
                </a:solidFill>
                <a:latin typeface="Malgun Gothic" pitchFamily="34" charset="0"/>
                <a:ea typeface="Malgun Gothic" pitchFamily="34" charset="-122"/>
                <a:cs typeface="Malgun Gothic" pitchFamily="34" charset="-120"/>
              </a:rPr>
              <a:t>소유권 이동</a:t>
            </a:r>
            <a:endParaRPr lang="en-US" sz="1100" dirty="0"/>
          </a:p>
        </p:txBody>
      </p:sp>
      <p:sp>
        <p:nvSpPr>
          <p:cNvPr id="27" name="Shape 25"/>
          <p:cNvSpPr/>
          <p:nvPr/>
        </p:nvSpPr>
        <p:spPr>
          <a:xfrm>
            <a:off x="548640" y="5486400"/>
            <a:ext cx="5486400" cy="594360"/>
          </a:xfrm>
          <a:prstGeom prst="rect">
            <a:avLst/>
          </a:prstGeom>
          <a:solidFill>
            <a:srgbClr val="FFFFFF"/>
          </a:solidFill>
          <a:ln w="6350">
            <a:solidFill>
              <a:srgbClr val="E1E2E5"/>
            </a:solidFill>
            <a:prstDash val="solid"/>
          </a:ln>
        </p:spPr>
      </p:sp>
      <p:sp>
        <p:nvSpPr>
          <p:cNvPr id="28" name="Text 26"/>
          <p:cNvSpPr/>
          <p:nvPr/>
        </p:nvSpPr>
        <p:spPr>
          <a:xfrm>
            <a:off x="731520" y="5596128"/>
            <a:ext cx="1371600" cy="365760"/>
          </a:xfrm>
          <a:prstGeom prst="rect">
            <a:avLst/>
          </a:prstGeom>
          <a:noFill/>
          <a:ln/>
        </p:spPr>
        <p:txBody>
          <a:bodyPr wrap="square" rtlCol="0" anchor="ctr"/>
          <a:lstStyle/>
          <a:p>
            <a:pPr indent="0" marL="0">
              <a:buNone/>
            </a:pPr>
            <a:r>
              <a:rPr lang="en-US" sz="1100" b="1" spc="200" kern="0" dirty="0">
                <a:solidFill>
                  <a:srgbClr val="0A0A0B"/>
                </a:solidFill>
                <a:latin typeface="Consolas" pitchFamily="34" charset="0"/>
                <a:ea typeface="Consolas" pitchFamily="34" charset="-122"/>
                <a:cs typeface="Consolas" pitchFamily="34" charset="-120"/>
              </a:rPr>
              <a:t>USE</a:t>
            </a:r>
            <a:endParaRPr lang="en-US" sz="1100" dirty="0"/>
          </a:p>
        </p:txBody>
      </p:sp>
      <p:sp>
        <p:nvSpPr>
          <p:cNvPr id="29" name="Text 27"/>
          <p:cNvSpPr/>
          <p:nvPr/>
        </p:nvSpPr>
        <p:spPr>
          <a:xfrm>
            <a:off x="2194560" y="5596128"/>
            <a:ext cx="914400" cy="365760"/>
          </a:xfrm>
          <a:prstGeom prst="rect">
            <a:avLst/>
          </a:prstGeom>
          <a:noFill/>
          <a:ln/>
        </p:spPr>
        <p:txBody>
          <a:bodyPr wrap="square" rtlCol="0" anchor="ctr"/>
          <a:lstStyle/>
          <a:p>
            <a:pPr indent="0" marL="0">
              <a:buNone/>
            </a:pPr>
            <a:r>
              <a:rPr lang="en-US" sz="1400" b="1" dirty="0">
                <a:solidFill>
                  <a:srgbClr val="0A0A0B"/>
                </a:solidFill>
                <a:latin typeface="Malgun Gothic" pitchFamily="34" charset="0"/>
                <a:ea typeface="Malgun Gothic" pitchFamily="34" charset="-122"/>
                <a:cs typeface="Malgun Gothic" pitchFamily="34" charset="-120"/>
              </a:rPr>
              <a:t>사용 매핑</a:t>
            </a:r>
            <a:endParaRPr lang="en-US" sz="1400" dirty="0"/>
          </a:p>
        </p:txBody>
      </p:sp>
      <p:sp>
        <p:nvSpPr>
          <p:cNvPr id="30" name="Text 28"/>
          <p:cNvSpPr/>
          <p:nvPr/>
        </p:nvSpPr>
        <p:spPr>
          <a:xfrm>
            <a:off x="3108960" y="5623560"/>
            <a:ext cx="2743200" cy="320040"/>
          </a:xfrm>
          <a:prstGeom prst="rect">
            <a:avLst/>
          </a:prstGeom>
          <a:noFill/>
          <a:ln/>
        </p:spPr>
        <p:txBody>
          <a:bodyPr wrap="square" rtlCol="0" anchor="ctr"/>
          <a:lstStyle/>
          <a:p>
            <a:pPr indent="0" marL="0">
              <a:buNone/>
            </a:pPr>
            <a:r>
              <a:rPr lang="en-US" sz="1100" dirty="0">
                <a:solidFill>
                  <a:srgbClr val="4B5160"/>
                </a:solidFill>
                <a:latin typeface="Malgun Gothic" pitchFamily="34" charset="0"/>
                <a:ea typeface="Malgun Gothic" pitchFamily="34" charset="-122"/>
                <a:cs typeface="Malgun Gothic" pitchFamily="34" charset="-120"/>
              </a:rPr>
              <a:t>부품 ID에 강재 등록 → USED</a:t>
            </a:r>
            <a:endParaRPr lang="en-US" sz="1100" dirty="0"/>
          </a:p>
        </p:txBody>
      </p:sp>
      <p:sp>
        <p:nvSpPr>
          <p:cNvPr id="31" name="Text 29"/>
          <p:cNvSpPr/>
          <p:nvPr/>
        </p:nvSpPr>
        <p:spPr>
          <a:xfrm>
            <a:off x="6400800" y="2606040"/>
            <a:ext cx="5486400" cy="274320"/>
          </a:xfrm>
          <a:prstGeom prst="rect">
            <a:avLst/>
          </a:prstGeom>
          <a:noFill/>
          <a:ln/>
        </p:spPr>
        <p:txBody>
          <a:bodyPr wrap="square" rtlCol="0" anchor="ctr"/>
          <a:lstStyle/>
          <a:p>
            <a:pPr indent="0" marL="0">
              <a:buNone/>
            </a:pPr>
            <a:r>
              <a:rPr lang="en-US" sz="1000" b="1" spc="300" kern="0" dirty="0">
                <a:solidFill>
                  <a:srgbClr val="80868F"/>
                </a:solidFill>
                <a:latin typeface="Consolas" pitchFamily="34" charset="0"/>
                <a:ea typeface="Consolas" pitchFamily="34" charset="-122"/>
                <a:cs typeface="Consolas" pitchFamily="34" charset="-120"/>
              </a:rPr>
              <a:t>3-LAYER ARCHITECTURE</a:t>
            </a:r>
            <a:endParaRPr lang="en-US" sz="1000" dirty="0"/>
          </a:p>
        </p:txBody>
      </p:sp>
      <p:sp>
        <p:nvSpPr>
          <p:cNvPr id="32" name="Shape 30"/>
          <p:cNvSpPr/>
          <p:nvPr/>
        </p:nvSpPr>
        <p:spPr>
          <a:xfrm>
            <a:off x="6400800" y="2926080"/>
            <a:ext cx="5212080" cy="1005840"/>
          </a:xfrm>
          <a:prstGeom prst="rect">
            <a:avLst/>
          </a:prstGeom>
          <a:solidFill>
            <a:srgbClr val="F0F1F4"/>
          </a:solidFill>
          <a:ln w="6350">
            <a:solidFill>
              <a:srgbClr val="E1E2E5"/>
            </a:solidFill>
            <a:prstDash val="solid"/>
          </a:ln>
        </p:spPr>
      </p:sp>
      <p:sp>
        <p:nvSpPr>
          <p:cNvPr id="33" name="Shape 31"/>
          <p:cNvSpPr/>
          <p:nvPr/>
        </p:nvSpPr>
        <p:spPr>
          <a:xfrm>
            <a:off x="6400800" y="2926080"/>
            <a:ext cx="91440" cy="1005840"/>
          </a:xfrm>
          <a:prstGeom prst="rect">
            <a:avLst/>
          </a:prstGeom>
          <a:solidFill>
            <a:srgbClr val="0A0A0B"/>
          </a:solidFill>
          <a:ln w="12700">
            <a:solidFill>
              <a:srgbClr val="0A0A0B"/>
            </a:solidFill>
            <a:prstDash val="solid"/>
          </a:ln>
        </p:spPr>
      </p:sp>
      <p:sp>
        <p:nvSpPr>
          <p:cNvPr id="34" name="Text 32"/>
          <p:cNvSpPr/>
          <p:nvPr/>
        </p:nvSpPr>
        <p:spPr>
          <a:xfrm>
            <a:off x="6675120" y="3035808"/>
            <a:ext cx="3200400" cy="320040"/>
          </a:xfrm>
          <a:prstGeom prst="rect">
            <a:avLst/>
          </a:prstGeom>
          <a:noFill/>
          <a:ln/>
        </p:spPr>
        <p:txBody>
          <a:bodyPr wrap="square" rtlCol="0" anchor="ctr"/>
          <a:lstStyle/>
          <a:p>
            <a:pPr indent="0" marL="0">
              <a:buNone/>
            </a:pPr>
            <a:r>
              <a:rPr lang="en-US" sz="1400" b="1" dirty="0">
                <a:solidFill>
                  <a:srgbClr val="0A0A0B"/>
                </a:solidFill>
                <a:latin typeface="Malgun Gothic" pitchFamily="34" charset="0"/>
                <a:ea typeface="Malgun Gothic" pitchFamily="34" charset="-122"/>
                <a:cs typeface="Malgun Gothic" pitchFamily="34" charset="-120"/>
              </a:rPr>
              <a:t>Smart Contract</a:t>
            </a:r>
            <a:endParaRPr lang="en-US" sz="1400" dirty="0"/>
          </a:p>
        </p:txBody>
      </p:sp>
      <p:sp>
        <p:nvSpPr>
          <p:cNvPr id="35" name="Text 33"/>
          <p:cNvSpPr/>
          <p:nvPr/>
        </p:nvSpPr>
        <p:spPr>
          <a:xfrm>
            <a:off x="6675120" y="3337560"/>
            <a:ext cx="3200400" cy="228600"/>
          </a:xfrm>
          <a:prstGeom prst="rect">
            <a:avLst/>
          </a:prstGeom>
          <a:noFill/>
          <a:ln/>
        </p:spPr>
        <p:txBody>
          <a:bodyPr wrap="square" rtlCol="0" anchor="ctr"/>
          <a:lstStyle/>
          <a:p>
            <a:pPr indent="0" marL="0">
              <a:buNone/>
            </a:pPr>
            <a:r>
              <a:rPr lang="en-US" sz="1000" dirty="0">
                <a:solidFill>
                  <a:srgbClr val="0A0A0B"/>
                </a:solidFill>
                <a:latin typeface="Consolas" pitchFamily="34" charset="0"/>
                <a:ea typeface="Consolas" pitchFamily="34" charset="-122"/>
                <a:cs typeface="Consolas" pitchFamily="34" charset="-120"/>
              </a:rPr>
              <a:t>Sepolia Testnet</a:t>
            </a:r>
            <a:endParaRPr lang="en-US" sz="1000" dirty="0"/>
          </a:p>
        </p:txBody>
      </p:sp>
      <p:sp>
        <p:nvSpPr>
          <p:cNvPr id="36" name="Text 34"/>
          <p:cNvSpPr/>
          <p:nvPr/>
        </p:nvSpPr>
        <p:spPr>
          <a:xfrm>
            <a:off x="6675120" y="3566160"/>
            <a:ext cx="4754880" cy="457200"/>
          </a:xfrm>
          <a:prstGeom prst="rect">
            <a:avLst/>
          </a:prstGeom>
          <a:noFill/>
          <a:ln/>
        </p:spPr>
        <p:txBody>
          <a:bodyPr wrap="square" rtlCol="0" anchor="ctr"/>
          <a:lstStyle/>
          <a:p>
            <a:pPr indent="0" marL="0">
              <a:buNone/>
            </a:pPr>
            <a:r>
              <a:rPr lang="en-US" sz="1050" dirty="0">
                <a:solidFill>
                  <a:srgbClr val="4B5160"/>
                </a:solidFill>
                <a:latin typeface="Malgun Gothic" pitchFamily="34" charset="0"/>
                <a:ea typeface="Malgun Gothic" pitchFamily="34" charset="-122"/>
                <a:cs typeface="Malgun Gothic" pitchFamily="34" charset="-120"/>
              </a:rPr>
              <a:t>진본성 봉인 — PDF 해시, Heat No.,</a:t>
            </a:r>
            <a:endParaRPr lang="en-US" sz="1050" dirty="0"/>
          </a:p>
          <a:p>
            <a:pPr indent="0" marL="0">
              <a:buNone/>
            </a:pPr>
            <a:r>
              <a:rPr lang="en-US" sz="1050" dirty="0">
                <a:solidFill>
                  <a:srgbClr val="4B5160"/>
                </a:solidFill>
                <a:latin typeface="Malgun Gothic" pitchFamily="34" charset="0"/>
                <a:ea typeface="Malgun Gothic" pitchFamily="34" charset="-122"/>
                <a:cs typeface="Malgun Gothic" pitchFamily="34" charset="-120"/>
              </a:rPr>
              <a:t>소유자, 상태, 분할/조합 이력</a:t>
            </a:r>
            <a:endParaRPr lang="en-US" sz="1050" dirty="0"/>
          </a:p>
        </p:txBody>
      </p:sp>
      <p:sp>
        <p:nvSpPr>
          <p:cNvPr id="37" name="Shape 35"/>
          <p:cNvSpPr/>
          <p:nvPr/>
        </p:nvSpPr>
        <p:spPr>
          <a:xfrm>
            <a:off x="6400800" y="4023360"/>
            <a:ext cx="5212080" cy="1005840"/>
          </a:xfrm>
          <a:prstGeom prst="rect">
            <a:avLst/>
          </a:prstGeom>
          <a:solidFill>
            <a:srgbClr val="EEF2F7"/>
          </a:solidFill>
          <a:ln w="6350">
            <a:solidFill>
              <a:srgbClr val="E1E2E5"/>
            </a:solidFill>
            <a:prstDash val="solid"/>
          </a:ln>
        </p:spPr>
      </p:sp>
      <p:sp>
        <p:nvSpPr>
          <p:cNvPr id="38" name="Shape 36"/>
          <p:cNvSpPr/>
          <p:nvPr/>
        </p:nvSpPr>
        <p:spPr>
          <a:xfrm>
            <a:off x="6400800" y="4023360"/>
            <a:ext cx="91440" cy="1005840"/>
          </a:xfrm>
          <a:prstGeom prst="rect">
            <a:avLst/>
          </a:prstGeom>
          <a:solidFill>
            <a:srgbClr val="1E3A5F"/>
          </a:solidFill>
          <a:ln w="12700">
            <a:solidFill>
              <a:srgbClr val="1E3A5F"/>
            </a:solidFill>
            <a:prstDash val="solid"/>
          </a:ln>
        </p:spPr>
      </p:sp>
      <p:sp>
        <p:nvSpPr>
          <p:cNvPr id="39" name="Text 37"/>
          <p:cNvSpPr/>
          <p:nvPr/>
        </p:nvSpPr>
        <p:spPr>
          <a:xfrm>
            <a:off x="6675120" y="4133088"/>
            <a:ext cx="3200400" cy="320040"/>
          </a:xfrm>
          <a:prstGeom prst="rect">
            <a:avLst/>
          </a:prstGeom>
          <a:noFill/>
          <a:ln/>
        </p:spPr>
        <p:txBody>
          <a:bodyPr wrap="square" rtlCol="0" anchor="ctr"/>
          <a:lstStyle/>
          <a:p>
            <a:pPr indent="0" marL="0">
              <a:buNone/>
            </a:pPr>
            <a:r>
              <a:rPr lang="en-US" sz="1400" b="1" dirty="0">
                <a:solidFill>
                  <a:srgbClr val="0A0A0B"/>
                </a:solidFill>
                <a:latin typeface="Malgun Gothic" pitchFamily="34" charset="0"/>
                <a:ea typeface="Malgun Gothic" pitchFamily="34" charset="-122"/>
                <a:cs typeface="Malgun Gothic" pitchFamily="34" charset="-120"/>
              </a:rPr>
              <a:t>Server (KV Store)</a:t>
            </a:r>
            <a:endParaRPr lang="en-US" sz="1400" dirty="0"/>
          </a:p>
        </p:txBody>
      </p:sp>
      <p:sp>
        <p:nvSpPr>
          <p:cNvPr id="40" name="Text 38"/>
          <p:cNvSpPr/>
          <p:nvPr/>
        </p:nvSpPr>
        <p:spPr>
          <a:xfrm>
            <a:off x="6675120" y="4434840"/>
            <a:ext cx="3200400" cy="228600"/>
          </a:xfrm>
          <a:prstGeom prst="rect">
            <a:avLst/>
          </a:prstGeom>
          <a:noFill/>
          <a:ln/>
        </p:spPr>
        <p:txBody>
          <a:bodyPr wrap="square" rtlCol="0" anchor="ctr"/>
          <a:lstStyle/>
          <a:p>
            <a:pPr indent="0" marL="0">
              <a:buNone/>
            </a:pPr>
            <a:r>
              <a:rPr lang="en-US" sz="1000" dirty="0">
                <a:solidFill>
                  <a:srgbClr val="1E3A5F"/>
                </a:solidFill>
                <a:latin typeface="Consolas" pitchFamily="34" charset="0"/>
                <a:ea typeface="Consolas" pitchFamily="34" charset="-122"/>
                <a:cs typeface="Consolas" pitchFamily="34" charset="-120"/>
              </a:rPr>
              <a:t>Cloudflare Workers</a:t>
            </a:r>
            <a:endParaRPr lang="en-US" sz="1000" dirty="0"/>
          </a:p>
        </p:txBody>
      </p:sp>
      <p:sp>
        <p:nvSpPr>
          <p:cNvPr id="41" name="Text 39"/>
          <p:cNvSpPr/>
          <p:nvPr/>
        </p:nvSpPr>
        <p:spPr>
          <a:xfrm>
            <a:off x="6675120" y="4663440"/>
            <a:ext cx="4754880" cy="457200"/>
          </a:xfrm>
          <a:prstGeom prst="rect">
            <a:avLst/>
          </a:prstGeom>
          <a:noFill/>
          <a:ln/>
        </p:spPr>
        <p:txBody>
          <a:bodyPr wrap="square" rtlCol="0" anchor="ctr"/>
          <a:lstStyle/>
          <a:p>
            <a:pPr indent="0" marL="0">
              <a:buNone/>
            </a:pPr>
            <a:r>
              <a:rPr lang="en-US" sz="1050" dirty="0">
                <a:solidFill>
                  <a:srgbClr val="4B5160"/>
                </a:solidFill>
                <a:latin typeface="Malgun Gothic" pitchFamily="34" charset="0"/>
                <a:ea typeface="Malgun Gothic" pitchFamily="34" charset="-122"/>
                <a:cs typeface="Malgun Gothic" pitchFamily="34" charset="-120"/>
              </a:rPr>
              <a:t>검색용 메타데이터 — 화학 성분,</a:t>
            </a:r>
            <a:endParaRPr lang="en-US" sz="1050" dirty="0"/>
          </a:p>
          <a:p>
            <a:pPr indent="0" marL="0">
              <a:buNone/>
            </a:pPr>
            <a:r>
              <a:rPr lang="en-US" sz="1050" dirty="0">
                <a:solidFill>
                  <a:srgbClr val="4B5160"/>
                </a:solidFill>
                <a:latin typeface="Malgun Gothic" pitchFamily="34" charset="0"/>
                <a:ea typeface="Malgun Gothic" pitchFamily="34" charset="-122"/>
                <a:cs typeface="Malgun Gothic" pitchFamily="34" charset="-120"/>
              </a:rPr>
              <a:t>기계적 성질, 부품 설명</a:t>
            </a:r>
            <a:endParaRPr lang="en-US" sz="1050" dirty="0"/>
          </a:p>
        </p:txBody>
      </p:sp>
      <p:sp>
        <p:nvSpPr>
          <p:cNvPr id="42" name="Shape 40"/>
          <p:cNvSpPr/>
          <p:nvPr/>
        </p:nvSpPr>
        <p:spPr>
          <a:xfrm>
            <a:off x="6400800" y="5120640"/>
            <a:ext cx="5212080" cy="1005840"/>
          </a:xfrm>
          <a:prstGeom prst="rect">
            <a:avLst/>
          </a:prstGeom>
          <a:solidFill>
            <a:srgbClr val="E8F5EE"/>
          </a:solidFill>
          <a:ln w="6350">
            <a:solidFill>
              <a:srgbClr val="E1E2E5"/>
            </a:solidFill>
            <a:prstDash val="solid"/>
          </a:ln>
        </p:spPr>
      </p:sp>
      <p:sp>
        <p:nvSpPr>
          <p:cNvPr id="43" name="Shape 41"/>
          <p:cNvSpPr/>
          <p:nvPr/>
        </p:nvSpPr>
        <p:spPr>
          <a:xfrm>
            <a:off x="6400800" y="5120640"/>
            <a:ext cx="91440" cy="1005840"/>
          </a:xfrm>
          <a:prstGeom prst="rect">
            <a:avLst/>
          </a:prstGeom>
          <a:solidFill>
            <a:srgbClr val="0A8A3A"/>
          </a:solidFill>
          <a:ln w="12700">
            <a:solidFill>
              <a:srgbClr val="0A8A3A"/>
            </a:solidFill>
            <a:prstDash val="solid"/>
          </a:ln>
        </p:spPr>
      </p:sp>
      <p:sp>
        <p:nvSpPr>
          <p:cNvPr id="44" name="Text 42"/>
          <p:cNvSpPr/>
          <p:nvPr/>
        </p:nvSpPr>
        <p:spPr>
          <a:xfrm>
            <a:off x="6675120" y="5230368"/>
            <a:ext cx="3200400" cy="320040"/>
          </a:xfrm>
          <a:prstGeom prst="rect">
            <a:avLst/>
          </a:prstGeom>
          <a:noFill/>
          <a:ln/>
        </p:spPr>
        <p:txBody>
          <a:bodyPr wrap="square" rtlCol="0" anchor="ctr"/>
          <a:lstStyle/>
          <a:p>
            <a:pPr indent="0" marL="0">
              <a:buNone/>
            </a:pPr>
            <a:r>
              <a:rPr lang="en-US" sz="1400" b="1" dirty="0">
                <a:solidFill>
                  <a:srgbClr val="0A0A0B"/>
                </a:solidFill>
                <a:latin typeface="Malgun Gothic" pitchFamily="34" charset="0"/>
                <a:ea typeface="Malgun Gothic" pitchFamily="34" charset="-122"/>
                <a:cs typeface="Malgun Gothic" pitchFamily="34" charset="-120"/>
              </a:rPr>
              <a:t>IPFS Storage</a:t>
            </a:r>
            <a:endParaRPr lang="en-US" sz="1400" dirty="0"/>
          </a:p>
        </p:txBody>
      </p:sp>
      <p:sp>
        <p:nvSpPr>
          <p:cNvPr id="45" name="Text 43"/>
          <p:cNvSpPr/>
          <p:nvPr/>
        </p:nvSpPr>
        <p:spPr>
          <a:xfrm>
            <a:off x="6675120" y="5532120"/>
            <a:ext cx="3200400" cy="228600"/>
          </a:xfrm>
          <a:prstGeom prst="rect">
            <a:avLst/>
          </a:prstGeom>
          <a:noFill/>
          <a:ln/>
        </p:spPr>
        <p:txBody>
          <a:bodyPr wrap="square" rtlCol="0" anchor="ctr"/>
          <a:lstStyle/>
          <a:p>
            <a:pPr indent="0" marL="0">
              <a:buNone/>
            </a:pPr>
            <a:r>
              <a:rPr lang="en-US" sz="1000" dirty="0">
                <a:solidFill>
                  <a:srgbClr val="0A8A3A"/>
                </a:solidFill>
                <a:latin typeface="Consolas" pitchFamily="34" charset="0"/>
                <a:ea typeface="Consolas" pitchFamily="34" charset="-122"/>
                <a:cs typeface="Consolas" pitchFamily="34" charset="-120"/>
              </a:rPr>
              <a:t>Pinata Gateway</a:t>
            </a:r>
            <a:endParaRPr lang="en-US" sz="1000" dirty="0"/>
          </a:p>
        </p:txBody>
      </p:sp>
      <p:sp>
        <p:nvSpPr>
          <p:cNvPr id="46" name="Text 44"/>
          <p:cNvSpPr/>
          <p:nvPr/>
        </p:nvSpPr>
        <p:spPr>
          <a:xfrm>
            <a:off x="6675120" y="5760720"/>
            <a:ext cx="4754880" cy="457200"/>
          </a:xfrm>
          <a:prstGeom prst="rect">
            <a:avLst/>
          </a:prstGeom>
          <a:noFill/>
          <a:ln/>
        </p:spPr>
        <p:txBody>
          <a:bodyPr wrap="square" rtlCol="0" anchor="ctr"/>
          <a:lstStyle/>
          <a:p>
            <a:pPr indent="0" marL="0">
              <a:buNone/>
            </a:pPr>
            <a:r>
              <a:rPr lang="en-US" sz="1050" dirty="0">
                <a:solidFill>
                  <a:srgbClr val="4B5160"/>
                </a:solidFill>
                <a:latin typeface="Malgun Gothic" pitchFamily="34" charset="0"/>
                <a:ea typeface="Malgun Gothic" pitchFamily="34" charset="-122"/>
                <a:cs typeface="Malgun Gothic" pitchFamily="34" charset="-120"/>
              </a:rPr>
              <a:t>PDF 원본 분산 저장 — 단일 운영자</a:t>
            </a:r>
            <a:endParaRPr lang="en-US" sz="1050" dirty="0"/>
          </a:p>
          <a:p>
            <a:pPr indent="0" marL="0">
              <a:buNone/>
            </a:pPr>
            <a:r>
              <a:rPr lang="en-US" sz="1050" dirty="0">
                <a:solidFill>
                  <a:srgbClr val="4B5160"/>
                </a:solidFill>
                <a:latin typeface="Malgun Gothic" pitchFamily="34" charset="0"/>
                <a:ea typeface="Malgun Gothic" pitchFamily="34" charset="-122"/>
                <a:cs typeface="Malgun Gothic" pitchFamily="34" charset="-120"/>
              </a:rPr>
              <a:t>의존 없이 영구 접근 가능</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064240" y="274320"/>
            <a:ext cx="822960" cy="274320"/>
          </a:xfrm>
          <a:prstGeom prst="rect">
            <a:avLst/>
          </a:prstGeom>
          <a:noFill/>
          <a:ln/>
        </p:spPr>
        <p:txBody>
          <a:bodyPr wrap="square" rtlCol="0" anchor="ctr"/>
          <a:lstStyle/>
          <a:p>
            <a:pPr algn="r" indent="0" marL="0">
              <a:buNone/>
            </a:pPr>
            <a:r>
              <a:rPr lang="en-US" sz="1000" dirty="0">
                <a:solidFill>
                  <a:srgbClr val="80868F"/>
                </a:solidFill>
                <a:latin typeface="Malgun Gothic" pitchFamily="34" charset="0"/>
                <a:ea typeface="Malgun Gothic" pitchFamily="34" charset="-122"/>
                <a:cs typeface="Malgun Gothic" pitchFamily="34" charset="-120"/>
              </a:rPr>
              <a:t>05 / 07</a:t>
            </a:r>
            <a:endParaRPr lang="en-US" sz="1000" dirty="0"/>
          </a:p>
        </p:txBody>
      </p:sp>
      <p:sp>
        <p:nvSpPr>
          <p:cNvPr id="3" name="Text 1"/>
          <p:cNvSpPr/>
          <p:nvPr/>
        </p:nvSpPr>
        <p:spPr>
          <a:xfrm>
            <a:off x="548640" y="274320"/>
            <a:ext cx="2743200" cy="274320"/>
          </a:xfrm>
          <a:prstGeom prst="rect">
            <a:avLst/>
          </a:prstGeom>
          <a:noFill/>
          <a:ln/>
        </p:spPr>
        <p:txBody>
          <a:bodyPr wrap="square" rtlCol="0" anchor="ctr"/>
          <a:lstStyle/>
          <a:p>
            <a:pPr indent="0" marL="0">
              <a:buNone/>
            </a:pPr>
            <a:r>
              <a:rPr lang="en-US" sz="1000" b="1" spc="200" kern="0" dirty="0">
                <a:solidFill>
                  <a:srgbClr val="80868F"/>
                </a:solidFill>
                <a:latin typeface="Malgun Gothic" pitchFamily="34" charset="0"/>
                <a:ea typeface="Malgun Gothic" pitchFamily="34" charset="-122"/>
                <a:cs typeface="Malgun Gothic" pitchFamily="34" charset="-120"/>
              </a:rPr>
              <a:t>MTC Chain</a:t>
            </a:r>
            <a:endParaRPr lang="en-US" sz="1000" dirty="0"/>
          </a:p>
        </p:txBody>
      </p:sp>
      <p:sp>
        <p:nvSpPr>
          <p:cNvPr id="4" name="Shape 2"/>
          <p:cNvSpPr/>
          <p:nvPr/>
        </p:nvSpPr>
        <p:spPr>
          <a:xfrm>
            <a:off x="548640" y="6400800"/>
            <a:ext cx="11064240" cy="0"/>
          </a:xfrm>
          <a:prstGeom prst="line">
            <a:avLst/>
          </a:prstGeom>
          <a:noFill/>
          <a:ln w="6350">
            <a:solidFill>
              <a:srgbClr val="EAECEF"/>
            </a:solidFill>
            <a:prstDash val="solid"/>
          </a:ln>
        </p:spPr>
      </p:sp>
      <p:sp>
        <p:nvSpPr>
          <p:cNvPr id="5" name="Text 3"/>
          <p:cNvSpPr/>
          <p:nvPr/>
        </p:nvSpPr>
        <p:spPr>
          <a:xfrm>
            <a:off x="548640" y="6492240"/>
            <a:ext cx="5486400" cy="228600"/>
          </a:xfrm>
          <a:prstGeom prst="rect">
            <a:avLst/>
          </a:prstGeom>
          <a:noFill/>
          <a:ln/>
        </p:spPr>
        <p:txBody>
          <a:bodyPr wrap="square" rtlCol="0" anchor="ctr"/>
          <a:lstStyle/>
          <a:p>
            <a:pPr indent="0" marL="0">
              <a:buNone/>
            </a:pPr>
            <a:r>
              <a:rPr lang="en-US" sz="900" dirty="0">
                <a:solidFill>
                  <a:srgbClr val="80868F"/>
                </a:solidFill>
                <a:latin typeface="Malgun Gothic" pitchFamily="34" charset="0"/>
                <a:ea typeface="Malgun Gothic" pitchFamily="34" charset="-122"/>
                <a:cs typeface="Malgun Gothic" pitchFamily="34" charset="-120"/>
              </a:rPr>
              <a:t>임시우 · 20233530 · 호서대학교</a:t>
            </a:r>
            <a:endParaRPr lang="en-US" sz="900" dirty="0"/>
          </a:p>
        </p:txBody>
      </p:sp>
      <p:sp>
        <p:nvSpPr>
          <p:cNvPr id="6" name="Text 4"/>
          <p:cNvSpPr/>
          <p:nvPr/>
        </p:nvSpPr>
        <p:spPr>
          <a:xfrm>
            <a:off x="7955280" y="6492240"/>
            <a:ext cx="3657600" cy="228600"/>
          </a:xfrm>
          <a:prstGeom prst="rect">
            <a:avLst/>
          </a:prstGeom>
          <a:noFill/>
          <a:ln/>
        </p:spPr>
        <p:txBody>
          <a:bodyPr wrap="square" rtlCol="0" anchor="ctr"/>
          <a:lstStyle/>
          <a:p>
            <a:pPr algn="r" indent="0" marL="0">
              <a:buNone/>
            </a:pPr>
            <a:r>
              <a:rPr lang="en-US" sz="900" dirty="0">
                <a:solidFill>
                  <a:srgbClr val="80868F"/>
                </a:solidFill>
                <a:latin typeface="Malgun Gothic" pitchFamily="34" charset="0"/>
                <a:ea typeface="Malgun Gothic" pitchFamily="34" charset="-122"/>
                <a:cs typeface="Malgun Gothic" pitchFamily="34" charset="-120"/>
              </a:rPr>
              <a:t>Blockchain Application · 2026</a:t>
            </a:r>
            <a:endParaRPr lang="en-US" sz="900" dirty="0"/>
          </a:p>
        </p:txBody>
      </p:sp>
      <p:sp>
        <p:nvSpPr>
          <p:cNvPr id="7" name="Text 5"/>
          <p:cNvSpPr/>
          <p:nvPr/>
        </p:nvSpPr>
        <p:spPr>
          <a:xfrm>
            <a:off x="548640" y="777240"/>
            <a:ext cx="914400" cy="457200"/>
          </a:xfrm>
          <a:prstGeom prst="rect">
            <a:avLst/>
          </a:prstGeom>
          <a:noFill/>
          <a:ln/>
        </p:spPr>
        <p:txBody>
          <a:bodyPr wrap="square" rtlCol="0" anchor="ctr"/>
          <a:lstStyle/>
          <a:p>
            <a:pPr indent="0" marL="0">
              <a:buNone/>
            </a:pPr>
            <a:r>
              <a:rPr lang="en-US" sz="1400" spc="300" kern="0" dirty="0">
                <a:solidFill>
                  <a:srgbClr val="80868F"/>
                </a:solidFill>
                <a:latin typeface="Consolas" pitchFamily="34" charset="0"/>
                <a:ea typeface="Consolas" pitchFamily="34" charset="-122"/>
                <a:cs typeface="Consolas" pitchFamily="34" charset="-120"/>
              </a:rPr>
              <a:t>04</a:t>
            </a:r>
            <a:endParaRPr lang="en-US" sz="1400" dirty="0"/>
          </a:p>
        </p:txBody>
      </p:sp>
      <p:sp>
        <p:nvSpPr>
          <p:cNvPr id="8" name="Text 6"/>
          <p:cNvSpPr/>
          <p:nvPr/>
        </p:nvSpPr>
        <p:spPr>
          <a:xfrm>
            <a:off x="548640" y="1143000"/>
            <a:ext cx="9144000" cy="640080"/>
          </a:xfrm>
          <a:prstGeom prst="rect">
            <a:avLst/>
          </a:prstGeom>
          <a:noFill/>
          <a:ln/>
        </p:spPr>
        <p:txBody>
          <a:bodyPr wrap="square" rtlCol="0" anchor="ctr"/>
          <a:lstStyle/>
          <a:p>
            <a:pPr indent="0" marL="0">
              <a:buNone/>
            </a:pPr>
            <a:r>
              <a:rPr lang="en-US" sz="3600" b="1" dirty="0">
                <a:solidFill>
                  <a:srgbClr val="0A0A0B"/>
                </a:solidFill>
                <a:latin typeface="Malgun Gothic" pitchFamily="34" charset="0"/>
                <a:ea typeface="Malgun Gothic" pitchFamily="34" charset="-122"/>
                <a:cs typeface="Malgun Gothic" pitchFamily="34" charset="-120"/>
              </a:rPr>
              <a:t>Live Demo</a:t>
            </a:r>
            <a:endParaRPr lang="en-US" sz="3600" dirty="0"/>
          </a:p>
        </p:txBody>
      </p:sp>
      <p:sp>
        <p:nvSpPr>
          <p:cNvPr id="9" name="Text 7"/>
          <p:cNvSpPr/>
          <p:nvPr/>
        </p:nvSpPr>
        <p:spPr>
          <a:xfrm>
            <a:off x="548640" y="1783080"/>
            <a:ext cx="9144000" cy="365760"/>
          </a:xfrm>
          <a:prstGeom prst="rect">
            <a:avLst/>
          </a:prstGeom>
          <a:noFill/>
          <a:ln/>
        </p:spPr>
        <p:txBody>
          <a:bodyPr wrap="square" rtlCol="0" anchor="ctr"/>
          <a:lstStyle/>
          <a:p>
            <a:pPr indent="0" marL="0">
              <a:buNone/>
            </a:pPr>
            <a:r>
              <a:rPr lang="en-US" sz="1500" dirty="0">
                <a:solidFill>
                  <a:srgbClr val="4B5160"/>
                </a:solidFill>
                <a:latin typeface="Malgun Gothic" pitchFamily="34" charset="0"/>
                <a:ea typeface="Malgun Gothic" pitchFamily="34" charset="-122"/>
                <a:cs typeface="Malgun Gothic" pitchFamily="34" charset="-120"/>
              </a:rPr>
              <a:t>발행부터 변조 검증까지 — 2분 시연 영상</a:t>
            </a:r>
            <a:endParaRPr lang="en-US" sz="1500" dirty="0"/>
          </a:p>
        </p:txBody>
      </p:sp>
      <p:sp>
        <p:nvSpPr>
          <p:cNvPr id="10" name="Shape 8"/>
          <p:cNvSpPr/>
          <p:nvPr/>
        </p:nvSpPr>
        <p:spPr>
          <a:xfrm>
            <a:off x="548640" y="2606040"/>
            <a:ext cx="7772400" cy="3657600"/>
          </a:xfrm>
          <a:prstGeom prst="rect">
            <a:avLst/>
          </a:prstGeom>
          <a:solidFill>
            <a:srgbClr val="0A0A0B"/>
          </a:solidFill>
          <a:ln w="12700">
            <a:solidFill>
              <a:srgbClr val="0A0A0B"/>
            </a:solidFill>
            <a:prstDash val="solid"/>
          </a:ln>
        </p:spPr>
      </p:sp>
      <p:sp>
        <p:nvSpPr>
          <p:cNvPr id="11" name="Shape 9"/>
          <p:cNvSpPr/>
          <p:nvPr/>
        </p:nvSpPr>
        <p:spPr>
          <a:xfrm>
            <a:off x="4023360" y="3794760"/>
            <a:ext cx="822960" cy="822960"/>
          </a:xfrm>
          <a:prstGeom prst="ellipse">
            <a:avLst/>
          </a:prstGeom>
          <a:solidFill>
            <a:srgbClr val="FFFFFF"/>
          </a:solidFill>
          <a:ln w="12700">
            <a:solidFill>
              <a:srgbClr val="FFFFFF"/>
            </a:solidFill>
            <a:prstDash val="solid"/>
          </a:ln>
        </p:spPr>
      </p:sp>
      <p:sp>
        <p:nvSpPr>
          <p:cNvPr id="12" name="Shape 10"/>
          <p:cNvSpPr/>
          <p:nvPr/>
        </p:nvSpPr>
        <p:spPr>
          <a:xfrm rot="5400000">
            <a:off x="4270248" y="4023360"/>
            <a:ext cx="365760" cy="365760"/>
          </a:xfrm>
          <a:prstGeom prst="triangle">
            <a:avLst/>
          </a:prstGeom>
          <a:solidFill>
            <a:srgbClr val="0A0A0B"/>
          </a:solidFill>
          <a:ln w="12700">
            <a:solidFill>
              <a:srgbClr val="0A0A0B"/>
            </a:solidFill>
            <a:prstDash val="solid"/>
          </a:ln>
        </p:spPr>
      </p:sp>
      <p:sp>
        <p:nvSpPr>
          <p:cNvPr id="13" name="Text 11"/>
          <p:cNvSpPr/>
          <p:nvPr/>
        </p:nvSpPr>
        <p:spPr>
          <a:xfrm>
            <a:off x="548640" y="4709160"/>
            <a:ext cx="7772400" cy="365760"/>
          </a:xfrm>
          <a:prstGeom prst="rect">
            <a:avLst/>
          </a:prstGeom>
          <a:noFill/>
          <a:ln/>
        </p:spPr>
        <p:txBody>
          <a:bodyPr wrap="square" rtlCol="0" anchor="ctr"/>
          <a:lstStyle/>
          <a:p>
            <a:pPr algn="ctr" indent="0" marL="0">
              <a:buNone/>
            </a:pPr>
            <a:r>
              <a:rPr lang="en-US" sz="1400" b="1" spc="600" kern="0" dirty="0">
                <a:solidFill>
                  <a:srgbClr val="AAAAAA"/>
                </a:solidFill>
                <a:latin typeface="Consolas" pitchFamily="34" charset="0"/>
                <a:ea typeface="Consolas" pitchFamily="34" charset="-122"/>
                <a:cs typeface="Consolas" pitchFamily="34" charset="-120"/>
              </a:rPr>
              <a:t>DEMO  VIDEO</a:t>
            </a:r>
            <a:endParaRPr lang="en-US" sz="1400" dirty="0"/>
          </a:p>
        </p:txBody>
      </p:sp>
      <p:sp>
        <p:nvSpPr>
          <p:cNvPr id="14" name="Text 12"/>
          <p:cNvSpPr/>
          <p:nvPr/>
        </p:nvSpPr>
        <p:spPr>
          <a:xfrm>
            <a:off x="548640" y="5852160"/>
            <a:ext cx="7772400" cy="274320"/>
          </a:xfrm>
          <a:prstGeom prst="rect">
            <a:avLst/>
          </a:prstGeom>
          <a:noFill/>
          <a:ln/>
        </p:spPr>
        <p:txBody>
          <a:bodyPr wrap="square" rtlCol="0" anchor="ctr"/>
          <a:lstStyle/>
          <a:p>
            <a:pPr algn="ctr" indent="0" marL="0">
              <a:buNone/>
            </a:pPr>
            <a:r>
              <a:rPr lang="en-US" sz="1000" i="1" dirty="0">
                <a:solidFill>
                  <a:srgbClr val="888888"/>
                </a:solidFill>
                <a:latin typeface="Malgun Gothic" pitchFamily="34" charset="0"/>
                <a:ea typeface="Malgun Gothic" pitchFamily="34" charset="-122"/>
                <a:cs typeface="Malgun Gothic" pitchFamily="34" charset="-120"/>
              </a:rPr>
              <a:t>발표 시 이 슬라이드에 demo.mp4 삽입</a:t>
            </a:r>
            <a:endParaRPr lang="en-US" sz="1000" dirty="0"/>
          </a:p>
        </p:txBody>
      </p:sp>
      <p:sp>
        <p:nvSpPr>
          <p:cNvPr id="15" name="Text 13"/>
          <p:cNvSpPr/>
          <p:nvPr/>
        </p:nvSpPr>
        <p:spPr>
          <a:xfrm>
            <a:off x="8595360" y="2606040"/>
            <a:ext cx="3017520" cy="274320"/>
          </a:xfrm>
          <a:prstGeom prst="rect">
            <a:avLst/>
          </a:prstGeom>
          <a:noFill/>
          <a:ln/>
        </p:spPr>
        <p:txBody>
          <a:bodyPr wrap="square" rtlCol="0" anchor="ctr"/>
          <a:lstStyle/>
          <a:p>
            <a:pPr indent="0" marL="0">
              <a:buNone/>
            </a:pPr>
            <a:r>
              <a:rPr lang="en-US" sz="1000" b="1" spc="300" kern="0" dirty="0">
                <a:solidFill>
                  <a:srgbClr val="80868F"/>
                </a:solidFill>
                <a:latin typeface="Consolas" pitchFamily="34" charset="0"/>
                <a:ea typeface="Consolas" pitchFamily="34" charset="-122"/>
                <a:cs typeface="Consolas" pitchFamily="34" charset="-120"/>
              </a:rPr>
              <a:t>SCENARIO</a:t>
            </a:r>
            <a:endParaRPr lang="en-US" sz="1000" dirty="0"/>
          </a:p>
        </p:txBody>
      </p:sp>
      <p:sp>
        <p:nvSpPr>
          <p:cNvPr id="16" name="Shape 14"/>
          <p:cNvSpPr/>
          <p:nvPr/>
        </p:nvSpPr>
        <p:spPr>
          <a:xfrm>
            <a:off x="8595360" y="2971800"/>
            <a:ext cx="411480" cy="411480"/>
          </a:xfrm>
          <a:prstGeom prst="ellipse">
            <a:avLst/>
          </a:prstGeom>
          <a:solidFill>
            <a:srgbClr val="0A0A0B"/>
          </a:solidFill>
          <a:ln w="12700">
            <a:solidFill>
              <a:srgbClr val="0A0A0B"/>
            </a:solidFill>
            <a:prstDash val="solid"/>
          </a:ln>
        </p:spPr>
      </p:sp>
      <p:sp>
        <p:nvSpPr>
          <p:cNvPr id="17" name="Text 15"/>
          <p:cNvSpPr/>
          <p:nvPr/>
        </p:nvSpPr>
        <p:spPr>
          <a:xfrm>
            <a:off x="8595360" y="2971800"/>
            <a:ext cx="411480" cy="411480"/>
          </a:xfrm>
          <a:prstGeom prst="rect">
            <a:avLst/>
          </a:prstGeom>
          <a:noFill/>
          <a:ln/>
        </p:spPr>
        <p:txBody>
          <a:bodyPr wrap="square"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1</a:t>
            </a:r>
            <a:endParaRPr lang="en-US" sz="1400" dirty="0"/>
          </a:p>
        </p:txBody>
      </p:sp>
      <p:sp>
        <p:nvSpPr>
          <p:cNvPr id="18" name="Text 16"/>
          <p:cNvSpPr/>
          <p:nvPr/>
        </p:nvSpPr>
        <p:spPr>
          <a:xfrm>
            <a:off x="9098280" y="3026664"/>
            <a:ext cx="2743200" cy="320040"/>
          </a:xfrm>
          <a:prstGeom prst="rect">
            <a:avLst/>
          </a:prstGeom>
          <a:noFill/>
          <a:ln/>
        </p:spPr>
        <p:txBody>
          <a:bodyPr wrap="square" rtlCol="0" anchor="ctr"/>
          <a:lstStyle/>
          <a:p>
            <a:pPr indent="0" marL="0">
              <a:buNone/>
            </a:pPr>
            <a:r>
              <a:rPr lang="en-US" sz="1300" dirty="0">
                <a:solidFill>
                  <a:srgbClr val="0A0A0B"/>
                </a:solidFill>
                <a:latin typeface="Malgun Gothic" pitchFamily="34" charset="0"/>
                <a:ea typeface="Malgun Gothic" pitchFamily="34" charset="-122"/>
                <a:cs typeface="Malgun Gothic" pitchFamily="34" charset="-120"/>
              </a:rPr>
              <a:t>MTC 발행 (Mill)</a:t>
            </a:r>
            <a:endParaRPr lang="en-US" sz="1300" dirty="0"/>
          </a:p>
        </p:txBody>
      </p:sp>
      <p:sp>
        <p:nvSpPr>
          <p:cNvPr id="19" name="Shape 17"/>
          <p:cNvSpPr/>
          <p:nvPr/>
        </p:nvSpPr>
        <p:spPr>
          <a:xfrm>
            <a:off x="8595360" y="3538728"/>
            <a:ext cx="411480" cy="411480"/>
          </a:xfrm>
          <a:prstGeom prst="ellipse">
            <a:avLst/>
          </a:prstGeom>
          <a:solidFill>
            <a:srgbClr val="0A0A0B"/>
          </a:solidFill>
          <a:ln w="12700">
            <a:solidFill>
              <a:srgbClr val="0A0A0B"/>
            </a:solidFill>
            <a:prstDash val="solid"/>
          </a:ln>
        </p:spPr>
      </p:sp>
      <p:sp>
        <p:nvSpPr>
          <p:cNvPr id="20" name="Text 18"/>
          <p:cNvSpPr/>
          <p:nvPr/>
        </p:nvSpPr>
        <p:spPr>
          <a:xfrm>
            <a:off x="8595360" y="3538728"/>
            <a:ext cx="411480" cy="411480"/>
          </a:xfrm>
          <a:prstGeom prst="rect">
            <a:avLst/>
          </a:prstGeom>
          <a:noFill/>
          <a:ln/>
        </p:spPr>
        <p:txBody>
          <a:bodyPr wrap="square"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2</a:t>
            </a:r>
            <a:endParaRPr lang="en-US" sz="1400" dirty="0"/>
          </a:p>
        </p:txBody>
      </p:sp>
      <p:sp>
        <p:nvSpPr>
          <p:cNvPr id="21" name="Text 19"/>
          <p:cNvSpPr/>
          <p:nvPr/>
        </p:nvSpPr>
        <p:spPr>
          <a:xfrm>
            <a:off x="9098280" y="3593592"/>
            <a:ext cx="2743200" cy="320040"/>
          </a:xfrm>
          <a:prstGeom prst="rect">
            <a:avLst/>
          </a:prstGeom>
          <a:noFill/>
          <a:ln/>
        </p:spPr>
        <p:txBody>
          <a:bodyPr wrap="square" rtlCol="0" anchor="ctr"/>
          <a:lstStyle/>
          <a:p>
            <a:pPr indent="0" marL="0">
              <a:buNone/>
            </a:pPr>
            <a:r>
              <a:rPr lang="en-US" sz="1300" dirty="0">
                <a:solidFill>
                  <a:srgbClr val="0A0A0B"/>
                </a:solidFill>
                <a:latin typeface="Malgun Gothic" pitchFamily="34" charset="0"/>
                <a:ea typeface="Malgun Gothic" pitchFamily="34" charset="-122"/>
                <a:cs typeface="Malgun Gothic" pitchFamily="34" charset="-120"/>
              </a:rPr>
              <a:t>조회 + 해시 검증 ✓</a:t>
            </a:r>
            <a:endParaRPr lang="en-US" sz="1300" dirty="0"/>
          </a:p>
        </p:txBody>
      </p:sp>
      <p:sp>
        <p:nvSpPr>
          <p:cNvPr id="22" name="Shape 20"/>
          <p:cNvSpPr/>
          <p:nvPr/>
        </p:nvSpPr>
        <p:spPr>
          <a:xfrm>
            <a:off x="8595360" y="4105656"/>
            <a:ext cx="411480" cy="411480"/>
          </a:xfrm>
          <a:prstGeom prst="ellipse">
            <a:avLst/>
          </a:prstGeom>
          <a:solidFill>
            <a:srgbClr val="0A0A0B"/>
          </a:solidFill>
          <a:ln w="12700">
            <a:solidFill>
              <a:srgbClr val="0A0A0B"/>
            </a:solidFill>
            <a:prstDash val="solid"/>
          </a:ln>
        </p:spPr>
      </p:sp>
      <p:sp>
        <p:nvSpPr>
          <p:cNvPr id="23" name="Text 21"/>
          <p:cNvSpPr/>
          <p:nvPr/>
        </p:nvSpPr>
        <p:spPr>
          <a:xfrm>
            <a:off x="8595360" y="4105656"/>
            <a:ext cx="411480" cy="411480"/>
          </a:xfrm>
          <a:prstGeom prst="rect">
            <a:avLst/>
          </a:prstGeom>
          <a:noFill/>
          <a:ln/>
        </p:spPr>
        <p:txBody>
          <a:bodyPr wrap="square"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3</a:t>
            </a:r>
            <a:endParaRPr lang="en-US" sz="1400" dirty="0"/>
          </a:p>
        </p:txBody>
      </p:sp>
      <p:sp>
        <p:nvSpPr>
          <p:cNvPr id="24" name="Text 22"/>
          <p:cNvSpPr/>
          <p:nvPr/>
        </p:nvSpPr>
        <p:spPr>
          <a:xfrm>
            <a:off x="9098280" y="4160520"/>
            <a:ext cx="2743200" cy="320040"/>
          </a:xfrm>
          <a:prstGeom prst="rect">
            <a:avLst/>
          </a:prstGeom>
          <a:noFill/>
          <a:ln/>
        </p:spPr>
        <p:txBody>
          <a:bodyPr wrap="square" rtlCol="0" anchor="ctr"/>
          <a:lstStyle/>
          <a:p>
            <a:pPr indent="0" marL="0">
              <a:buNone/>
            </a:pPr>
            <a:r>
              <a:rPr lang="en-US" sz="1300" dirty="0">
                <a:solidFill>
                  <a:srgbClr val="0A0A0B"/>
                </a:solidFill>
                <a:latin typeface="Malgun Gothic" pitchFamily="34" charset="0"/>
                <a:ea typeface="Malgun Gothic" pitchFamily="34" charset="-122"/>
                <a:cs typeface="Malgun Gothic" pitchFamily="34" charset="-120"/>
              </a:rPr>
              <a:t>분할 / 사용 매핑</a:t>
            </a:r>
            <a:endParaRPr lang="en-US" sz="1300" dirty="0"/>
          </a:p>
        </p:txBody>
      </p:sp>
      <p:sp>
        <p:nvSpPr>
          <p:cNvPr id="25" name="Shape 23"/>
          <p:cNvSpPr/>
          <p:nvPr/>
        </p:nvSpPr>
        <p:spPr>
          <a:xfrm>
            <a:off x="8595360" y="4672584"/>
            <a:ext cx="411480" cy="411480"/>
          </a:xfrm>
          <a:prstGeom prst="ellipse">
            <a:avLst/>
          </a:prstGeom>
          <a:solidFill>
            <a:srgbClr val="0A0A0B"/>
          </a:solidFill>
          <a:ln w="12700">
            <a:solidFill>
              <a:srgbClr val="0A0A0B"/>
            </a:solidFill>
            <a:prstDash val="solid"/>
          </a:ln>
        </p:spPr>
      </p:sp>
      <p:sp>
        <p:nvSpPr>
          <p:cNvPr id="26" name="Text 24"/>
          <p:cNvSpPr/>
          <p:nvPr/>
        </p:nvSpPr>
        <p:spPr>
          <a:xfrm>
            <a:off x="8595360" y="4672584"/>
            <a:ext cx="411480" cy="411480"/>
          </a:xfrm>
          <a:prstGeom prst="rect">
            <a:avLst/>
          </a:prstGeom>
          <a:noFill/>
          <a:ln/>
        </p:spPr>
        <p:txBody>
          <a:bodyPr wrap="square"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4</a:t>
            </a:r>
            <a:endParaRPr lang="en-US" sz="1400" dirty="0"/>
          </a:p>
        </p:txBody>
      </p:sp>
      <p:sp>
        <p:nvSpPr>
          <p:cNvPr id="27" name="Text 25"/>
          <p:cNvSpPr/>
          <p:nvPr/>
        </p:nvSpPr>
        <p:spPr>
          <a:xfrm>
            <a:off x="9098280" y="4727448"/>
            <a:ext cx="2743200" cy="320040"/>
          </a:xfrm>
          <a:prstGeom prst="rect">
            <a:avLst/>
          </a:prstGeom>
          <a:noFill/>
          <a:ln/>
        </p:spPr>
        <p:txBody>
          <a:bodyPr wrap="square" rtlCol="0" anchor="ctr"/>
          <a:lstStyle/>
          <a:p>
            <a:pPr indent="0" marL="0">
              <a:buNone/>
            </a:pPr>
            <a:r>
              <a:rPr lang="en-US" sz="1300" dirty="0">
                <a:solidFill>
                  <a:srgbClr val="0A0A0B"/>
                </a:solidFill>
                <a:latin typeface="Malgun Gothic" pitchFamily="34" charset="0"/>
                <a:ea typeface="Malgun Gothic" pitchFamily="34" charset="-122"/>
                <a:cs typeface="Malgun Gothic" pitchFamily="34" charset="-120"/>
              </a:rPr>
              <a:t>이력 트리 추적</a:t>
            </a:r>
            <a:endParaRPr lang="en-US" sz="1300" dirty="0"/>
          </a:p>
        </p:txBody>
      </p:sp>
      <p:sp>
        <p:nvSpPr>
          <p:cNvPr id="28" name="Shape 26"/>
          <p:cNvSpPr/>
          <p:nvPr/>
        </p:nvSpPr>
        <p:spPr>
          <a:xfrm>
            <a:off x="8595360" y="5239512"/>
            <a:ext cx="411480" cy="411480"/>
          </a:xfrm>
          <a:prstGeom prst="ellipse">
            <a:avLst/>
          </a:prstGeom>
          <a:solidFill>
            <a:srgbClr val="C92A2A"/>
          </a:solidFill>
          <a:ln w="12700">
            <a:solidFill>
              <a:srgbClr val="C92A2A"/>
            </a:solidFill>
            <a:prstDash val="solid"/>
          </a:ln>
        </p:spPr>
      </p:sp>
      <p:sp>
        <p:nvSpPr>
          <p:cNvPr id="29" name="Text 27"/>
          <p:cNvSpPr/>
          <p:nvPr/>
        </p:nvSpPr>
        <p:spPr>
          <a:xfrm>
            <a:off x="8595360" y="5239512"/>
            <a:ext cx="411480" cy="411480"/>
          </a:xfrm>
          <a:prstGeom prst="rect">
            <a:avLst/>
          </a:prstGeom>
          <a:noFill/>
          <a:ln/>
        </p:spPr>
        <p:txBody>
          <a:bodyPr wrap="square"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5</a:t>
            </a:r>
            <a:endParaRPr lang="en-US" sz="1400" dirty="0"/>
          </a:p>
        </p:txBody>
      </p:sp>
      <p:sp>
        <p:nvSpPr>
          <p:cNvPr id="30" name="Text 28"/>
          <p:cNvSpPr/>
          <p:nvPr/>
        </p:nvSpPr>
        <p:spPr>
          <a:xfrm>
            <a:off x="9098280" y="5294376"/>
            <a:ext cx="2743200" cy="320040"/>
          </a:xfrm>
          <a:prstGeom prst="rect">
            <a:avLst/>
          </a:prstGeom>
          <a:noFill/>
          <a:ln/>
        </p:spPr>
        <p:txBody>
          <a:bodyPr wrap="square" rtlCol="0" anchor="ctr"/>
          <a:lstStyle/>
          <a:p>
            <a:pPr indent="0" marL="0">
              <a:buNone/>
            </a:pPr>
            <a:r>
              <a:rPr lang="en-US" sz="1300" dirty="0">
                <a:solidFill>
                  <a:srgbClr val="0A0A0B"/>
                </a:solidFill>
                <a:latin typeface="Malgun Gothic" pitchFamily="34" charset="0"/>
                <a:ea typeface="Malgun Gothic" pitchFamily="34" charset="-122"/>
                <a:cs typeface="Malgun Gothic" pitchFamily="34" charset="-120"/>
              </a:rPr>
              <a:t>위조 시연 ✗</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064240" y="274320"/>
            <a:ext cx="822960" cy="274320"/>
          </a:xfrm>
          <a:prstGeom prst="rect">
            <a:avLst/>
          </a:prstGeom>
          <a:noFill/>
          <a:ln/>
        </p:spPr>
        <p:txBody>
          <a:bodyPr wrap="square" rtlCol="0" anchor="ctr"/>
          <a:lstStyle/>
          <a:p>
            <a:pPr algn="r" indent="0" marL="0">
              <a:buNone/>
            </a:pPr>
            <a:r>
              <a:rPr lang="en-US" sz="1000" dirty="0">
                <a:solidFill>
                  <a:srgbClr val="80868F"/>
                </a:solidFill>
                <a:latin typeface="Malgun Gothic" pitchFamily="34" charset="0"/>
                <a:ea typeface="Malgun Gothic" pitchFamily="34" charset="-122"/>
                <a:cs typeface="Malgun Gothic" pitchFamily="34" charset="-120"/>
              </a:rPr>
              <a:t>06 / 07</a:t>
            </a:r>
            <a:endParaRPr lang="en-US" sz="1000" dirty="0"/>
          </a:p>
        </p:txBody>
      </p:sp>
      <p:sp>
        <p:nvSpPr>
          <p:cNvPr id="3" name="Text 1"/>
          <p:cNvSpPr/>
          <p:nvPr/>
        </p:nvSpPr>
        <p:spPr>
          <a:xfrm>
            <a:off x="548640" y="274320"/>
            <a:ext cx="2743200" cy="274320"/>
          </a:xfrm>
          <a:prstGeom prst="rect">
            <a:avLst/>
          </a:prstGeom>
          <a:noFill/>
          <a:ln/>
        </p:spPr>
        <p:txBody>
          <a:bodyPr wrap="square" rtlCol="0" anchor="ctr"/>
          <a:lstStyle/>
          <a:p>
            <a:pPr indent="0" marL="0">
              <a:buNone/>
            </a:pPr>
            <a:r>
              <a:rPr lang="en-US" sz="1000" b="1" spc="200" kern="0" dirty="0">
                <a:solidFill>
                  <a:srgbClr val="80868F"/>
                </a:solidFill>
                <a:latin typeface="Malgun Gothic" pitchFamily="34" charset="0"/>
                <a:ea typeface="Malgun Gothic" pitchFamily="34" charset="-122"/>
                <a:cs typeface="Malgun Gothic" pitchFamily="34" charset="-120"/>
              </a:rPr>
              <a:t>MTC Chain</a:t>
            </a:r>
            <a:endParaRPr lang="en-US" sz="1000" dirty="0"/>
          </a:p>
        </p:txBody>
      </p:sp>
      <p:sp>
        <p:nvSpPr>
          <p:cNvPr id="4" name="Shape 2"/>
          <p:cNvSpPr/>
          <p:nvPr/>
        </p:nvSpPr>
        <p:spPr>
          <a:xfrm>
            <a:off x="548640" y="6400800"/>
            <a:ext cx="11064240" cy="0"/>
          </a:xfrm>
          <a:prstGeom prst="line">
            <a:avLst/>
          </a:prstGeom>
          <a:noFill/>
          <a:ln w="6350">
            <a:solidFill>
              <a:srgbClr val="EAECEF"/>
            </a:solidFill>
            <a:prstDash val="solid"/>
          </a:ln>
        </p:spPr>
      </p:sp>
      <p:sp>
        <p:nvSpPr>
          <p:cNvPr id="5" name="Text 3"/>
          <p:cNvSpPr/>
          <p:nvPr/>
        </p:nvSpPr>
        <p:spPr>
          <a:xfrm>
            <a:off x="548640" y="6492240"/>
            <a:ext cx="5486400" cy="228600"/>
          </a:xfrm>
          <a:prstGeom prst="rect">
            <a:avLst/>
          </a:prstGeom>
          <a:noFill/>
          <a:ln/>
        </p:spPr>
        <p:txBody>
          <a:bodyPr wrap="square" rtlCol="0" anchor="ctr"/>
          <a:lstStyle/>
          <a:p>
            <a:pPr indent="0" marL="0">
              <a:buNone/>
            </a:pPr>
            <a:r>
              <a:rPr lang="en-US" sz="900" dirty="0">
                <a:solidFill>
                  <a:srgbClr val="80868F"/>
                </a:solidFill>
                <a:latin typeface="Malgun Gothic" pitchFamily="34" charset="0"/>
                <a:ea typeface="Malgun Gothic" pitchFamily="34" charset="-122"/>
                <a:cs typeface="Malgun Gothic" pitchFamily="34" charset="-120"/>
              </a:rPr>
              <a:t>임시우 · 20233530 · 호서대학교</a:t>
            </a:r>
            <a:endParaRPr lang="en-US" sz="900" dirty="0"/>
          </a:p>
        </p:txBody>
      </p:sp>
      <p:sp>
        <p:nvSpPr>
          <p:cNvPr id="6" name="Text 4"/>
          <p:cNvSpPr/>
          <p:nvPr/>
        </p:nvSpPr>
        <p:spPr>
          <a:xfrm>
            <a:off x="7955280" y="6492240"/>
            <a:ext cx="3657600" cy="228600"/>
          </a:xfrm>
          <a:prstGeom prst="rect">
            <a:avLst/>
          </a:prstGeom>
          <a:noFill/>
          <a:ln/>
        </p:spPr>
        <p:txBody>
          <a:bodyPr wrap="square" rtlCol="0" anchor="ctr"/>
          <a:lstStyle/>
          <a:p>
            <a:pPr algn="r" indent="0" marL="0">
              <a:buNone/>
            </a:pPr>
            <a:r>
              <a:rPr lang="en-US" sz="900" dirty="0">
                <a:solidFill>
                  <a:srgbClr val="80868F"/>
                </a:solidFill>
                <a:latin typeface="Malgun Gothic" pitchFamily="34" charset="0"/>
                <a:ea typeface="Malgun Gothic" pitchFamily="34" charset="-122"/>
                <a:cs typeface="Malgun Gothic" pitchFamily="34" charset="-120"/>
              </a:rPr>
              <a:t>Blockchain Application · 2026</a:t>
            </a:r>
            <a:endParaRPr lang="en-US" sz="900" dirty="0"/>
          </a:p>
        </p:txBody>
      </p:sp>
      <p:sp>
        <p:nvSpPr>
          <p:cNvPr id="7" name="Text 5"/>
          <p:cNvSpPr/>
          <p:nvPr/>
        </p:nvSpPr>
        <p:spPr>
          <a:xfrm>
            <a:off x="548640" y="777240"/>
            <a:ext cx="914400" cy="457200"/>
          </a:xfrm>
          <a:prstGeom prst="rect">
            <a:avLst/>
          </a:prstGeom>
          <a:noFill/>
          <a:ln/>
        </p:spPr>
        <p:txBody>
          <a:bodyPr wrap="square" rtlCol="0" anchor="ctr"/>
          <a:lstStyle/>
          <a:p>
            <a:pPr indent="0" marL="0">
              <a:buNone/>
            </a:pPr>
            <a:r>
              <a:rPr lang="en-US" sz="1400" spc="300" kern="0" dirty="0">
                <a:solidFill>
                  <a:srgbClr val="80868F"/>
                </a:solidFill>
                <a:latin typeface="Consolas" pitchFamily="34" charset="0"/>
                <a:ea typeface="Consolas" pitchFamily="34" charset="-122"/>
                <a:cs typeface="Consolas" pitchFamily="34" charset="-120"/>
              </a:rPr>
              <a:t>05</a:t>
            </a:r>
            <a:endParaRPr lang="en-US" sz="1400" dirty="0"/>
          </a:p>
        </p:txBody>
      </p:sp>
      <p:sp>
        <p:nvSpPr>
          <p:cNvPr id="8" name="Text 6"/>
          <p:cNvSpPr/>
          <p:nvPr/>
        </p:nvSpPr>
        <p:spPr>
          <a:xfrm>
            <a:off x="548640" y="1143000"/>
            <a:ext cx="9144000" cy="640080"/>
          </a:xfrm>
          <a:prstGeom prst="rect">
            <a:avLst/>
          </a:prstGeom>
          <a:noFill/>
          <a:ln/>
        </p:spPr>
        <p:txBody>
          <a:bodyPr wrap="square" rtlCol="0" anchor="ctr"/>
          <a:lstStyle/>
          <a:p>
            <a:pPr indent="0" marL="0">
              <a:buNone/>
            </a:pPr>
            <a:r>
              <a:rPr lang="en-US" sz="3600" b="1" dirty="0">
                <a:solidFill>
                  <a:srgbClr val="0A0A0B"/>
                </a:solidFill>
                <a:latin typeface="Malgun Gothic" pitchFamily="34" charset="0"/>
                <a:ea typeface="Malgun Gothic" pitchFamily="34" charset="-122"/>
                <a:cs typeface="Malgun Gothic" pitchFamily="34" charset="-120"/>
              </a:rPr>
              <a:t>바이브 코딩 노하우</a:t>
            </a:r>
            <a:endParaRPr lang="en-US" sz="3600" dirty="0"/>
          </a:p>
        </p:txBody>
      </p:sp>
      <p:sp>
        <p:nvSpPr>
          <p:cNvPr id="9" name="Text 7"/>
          <p:cNvSpPr/>
          <p:nvPr/>
        </p:nvSpPr>
        <p:spPr>
          <a:xfrm>
            <a:off x="548640" y="1783080"/>
            <a:ext cx="10972800" cy="365760"/>
          </a:xfrm>
          <a:prstGeom prst="rect">
            <a:avLst/>
          </a:prstGeom>
          <a:noFill/>
          <a:ln/>
        </p:spPr>
        <p:txBody>
          <a:bodyPr wrap="square" rtlCol="0" anchor="ctr"/>
          <a:lstStyle/>
          <a:p>
            <a:pPr indent="0" marL="0">
              <a:buNone/>
            </a:pPr>
            <a:r>
              <a:rPr lang="en-US" sz="1500" dirty="0">
                <a:solidFill>
                  <a:srgbClr val="4B5160"/>
                </a:solidFill>
                <a:latin typeface="Malgun Gothic" pitchFamily="34" charset="0"/>
                <a:ea typeface="Malgun Gothic" pitchFamily="34" charset="-122"/>
                <a:cs typeface="Malgun Gothic" pitchFamily="34" charset="-120"/>
              </a:rPr>
              <a:t>Claude Code · Claude Design 협업에서 얻은 세 가지 원칙</a:t>
            </a:r>
            <a:endParaRPr lang="en-US" sz="1500" dirty="0"/>
          </a:p>
        </p:txBody>
      </p:sp>
      <p:sp>
        <p:nvSpPr>
          <p:cNvPr id="10" name="Shape 8"/>
          <p:cNvSpPr/>
          <p:nvPr/>
        </p:nvSpPr>
        <p:spPr>
          <a:xfrm>
            <a:off x="411480" y="2606040"/>
            <a:ext cx="3657600" cy="3840480"/>
          </a:xfrm>
          <a:prstGeom prst="rect">
            <a:avLst/>
          </a:prstGeom>
          <a:solidFill>
            <a:srgbClr val="F7F7F8"/>
          </a:solidFill>
          <a:ln w="9525">
            <a:solidFill>
              <a:srgbClr val="E1E2E5"/>
            </a:solidFill>
            <a:prstDash val="solid"/>
          </a:ln>
        </p:spPr>
      </p:sp>
      <p:sp>
        <p:nvSpPr>
          <p:cNvPr id="11" name="Text 9"/>
          <p:cNvSpPr/>
          <p:nvPr/>
        </p:nvSpPr>
        <p:spPr>
          <a:xfrm>
            <a:off x="685800" y="2880360"/>
            <a:ext cx="1371600" cy="640080"/>
          </a:xfrm>
          <a:prstGeom prst="rect">
            <a:avLst/>
          </a:prstGeom>
          <a:noFill/>
          <a:ln/>
        </p:spPr>
        <p:txBody>
          <a:bodyPr wrap="square" rtlCol="0" anchor="ctr"/>
          <a:lstStyle/>
          <a:p>
            <a:pPr indent="0" marL="0">
              <a:buNone/>
            </a:pPr>
            <a:r>
              <a:rPr lang="en-US" sz="4800" b="1" spc="-100" kern="0" dirty="0">
                <a:solidFill>
                  <a:srgbClr val="0A0A0B"/>
                </a:solidFill>
                <a:latin typeface="Malgun Gothic" pitchFamily="34" charset="0"/>
                <a:ea typeface="Malgun Gothic" pitchFamily="34" charset="-122"/>
                <a:cs typeface="Malgun Gothic" pitchFamily="34" charset="-120"/>
              </a:rPr>
              <a:t>01</a:t>
            </a:r>
            <a:endParaRPr lang="en-US" sz="4800" dirty="0"/>
          </a:p>
        </p:txBody>
      </p:sp>
      <p:sp>
        <p:nvSpPr>
          <p:cNvPr id="12" name="Text 10"/>
          <p:cNvSpPr/>
          <p:nvPr/>
        </p:nvSpPr>
        <p:spPr>
          <a:xfrm>
            <a:off x="685800" y="3657600"/>
            <a:ext cx="3108960" cy="822960"/>
          </a:xfrm>
          <a:prstGeom prst="rect">
            <a:avLst/>
          </a:prstGeom>
          <a:noFill/>
          <a:ln/>
        </p:spPr>
        <p:txBody>
          <a:bodyPr wrap="square" rtlCol="0" anchor="t"/>
          <a:lstStyle/>
          <a:p>
            <a:pPr indent="0" marL="0">
              <a:buNone/>
            </a:pPr>
            <a:r>
              <a:rPr lang="en-US" sz="1800" b="1" dirty="0">
                <a:solidFill>
                  <a:srgbClr val="0A0A0B"/>
                </a:solidFill>
                <a:latin typeface="Malgun Gothic" pitchFamily="34" charset="0"/>
                <a:ea typeface="Malgun Gothic" pitchFamily="34" charset="-122"/>
                <a:cs typeface="Malgun Gothic" pitchFamily="34" charset="-120"/>
              </a:rPr>
              <a:t>PRD를 먼저 쓰고 시작</a:t>
            </a:r>
            <a:endParaRPr lang="en-US" sz="1800" dirty="0"/>
          </a:p>
        </p:txBody>
      </p:sp>
      <p:sp>
        <p:nvSpPr>
          <p:cNvPr id="13" name="Shape 11"/>
          <p:cNvSpPr/>
          <p:nvPr/>
        </p:nvSpPr>
        <p:spPr>
          <a:xfrm>
            <a:off x="685800" y="4480560"/>
            <a:ext cx="731520" cy="0"/>
          </a:xfrm>
          <a:prstGeom prst="line">
            <a:avLst/>
          </a:prstGeom>
          <a:noFill/>
          <a:ln w="19050">
            <a:solidFill>
              <a:srgbClr val="0A0A0B"/>
            </a:solidFill>
            <a:prstDash val="solid"/>
          </a:ln>
        </p:spPr>
      </p:sp>
      <p:sp>
        <p:nvSpPr>
          <p:cNvPr id="14" name="Text 12"/>
          <p:cNvSpPr/>
          <p:nvPr/>
        </p:nvSpPr>
        <p:spPr>
          <a:xfrm>
            <a:off x="685800" y="4617720"/>
            <a:ext cx="3108960" cy="1005840"/>
          </a:xfrm>
          <a:prstGeom prst="rect">
            <a:avLst/>
          </a:prstGeom>
          <a:noFill/>
          <a:ln/>
        </p:spPr>
        <p:txBody>
          <a:bodyPr wrap="square" rtlCol="0" anchor="t"/>
          <a:lstStyle/>
          <a:p>
            <a:pPr indent="0" marL="0">
              <a:buNone/>
            </a:pPr>
            <a:r>
              <a:rPr lang="en-US" sz="1200" dirty="0">
                <a:solidFill>
                  <a:srgbClr val="4B5160"/>
                </a:solidFill>
                <a:latin typeface="Malgun Gothic" pitchFamily="34" charset="0"/>
                <a:ea typeface="Malgun Gothic" pitchFamily="34" charset="-122"/>
                <a:cs typeface="Malgun Gothic" pitchFamily="34" charset="-120"/>
              </a:rPr>
              <a:t>화면 9개, 컨트랙트 함수, 데이터 모델을 마크다운 한 문서로 정리한 뒤 AI에 작업 단위로 던졌다.</a:t>
            </a:r>
            <a:endParaRPr lang="en-US" sz="1200" dirty="0"/>
          </a:p>
        </p:txBody>
      </p:sp>
      <p:sp>
        <p:nvSpPr>
          <p:cNvPr id="15" name="Text 13"/>
          <p:cNvSpPr/>
          <p:nvPr/>
        </p:nvSpPr>
        <p:spPr>
          <a:xfrm>
            <a:off x="685800" y="5623560"/>
            <a:ext cx="3108960" cy="777240"/>
          </a:xfrm>
          <a:prstGeom prst="rect">
            <a:avLst/>
          </a:prstGeom>
          <a:noFill/>
          <a:ln/>
        </p:spPr>
        <p:txBody>
          <a:bodyPr wrap="square" rtlCol="0" anchor="t"/>
          <a:lstStyle/>
          <a:p>
            <a:pPr indent="0" marL="0">
              <a:buNone/>
            </a:pPr>
            <a:r>
              <a:rPr lang="en-US" sz="1100" b="1" i="1" dirty="0">
                <a:solidFill>
                  <a:srgbClr val="0A0A0B"/>
                </a:solidFill>
                <a:latin typeface="Malgun Gothic" pitchFamily="34" charset="0"/>
                <a:ea typeface="Malgun Gothic" pitchFamily="34" charset="-122"/>
                <a:cs typeface="Malgun Gothic" pitchFamily="34" charset="-120"/>
              </a:rPr>
              <a:t>명세 없이 시작하면 AI가 'helpful'하게 시키지 않은 것까지 만들어 시간이 오히려 더 든다.</a:t>
            </a:r>
            <a:endParaRPr lang="en-US" sz="1100" dirty="0"/>
          </a:p>
        </p:txBody>
      </p:sp>
      <p:sp>
        <p:nvSpPr>
          <p:cNvPr id="16" name="Shape 14"/>
          <p:cNvSpPr/>
          <p:nvPr/>
        </p:nvSpPr>
        <p:spPr>
          <a:xfrm>
            <a:off x="4251960" y="2606040"/>
            <a:ext cx="3657600" cy="3840480"/>
          </a:xfrm>
          <a:prstGeom prst="rect">
            <a:avLst/>
          </a:prstGeom>
          <a:solidFill>
            <a:srgbClr val="F7F7F8"/>
          </a:solidFill>
          <a:ln w="9525">
            <a:solidFill>
              <a:srgbClr val="E1E2E5"/>
            </a:solidFill>
            <a:prstDash val="solid"/>
          </a:ln>
        </p:spPr>
      </p:sp>
      <p:sp>
        <p:nvSpPr>
          <p:cNvPr id="17" name="Text 15"/>
          <p:cNvSpPr/>
          <p:nvPr/>
        </p:nvSpPr>
        <p:spPr>
          <a:xfrm>
            <a:off x="4526280" y="2880360"/>
            <a:ext cx="1371600" cy="640080"/>
          </a:xfrm>
          <a:prstGeom prst="rect">
            <a:avLst/>
          </a:prstGeom>
          <a:noFill/>
          <a:ln/>
        </p:spPr>
        <p:txBody>
          <a:bodyPr wrap="square" rtlCol="0" anchor="ctr"/>
          <a:lstStyle/>
          <a:p>
            <a:pPr indent="0" marL="0">
              <a:buNone/>
            </a:pPr>
            <a:r>
              <a:rPr lang="en-US" sz="4800" b="1" spc="-100" kern="0" dirty="0">
                <a:solidFill>
                  <a:srgbClr val="0A0A0B"/>
                </a:solidFill>
                <a:latin typeface="Malgun Gothic" pitchFamily="34" charset="0"/>
                <a:ea typeface="Malgun Gothic" pitchFamily="34" charset="-122"/>
                <a:cs typeface="Malgun Gothic" pitchFamily="34" charset="-120"/>
              </a:rPr>
              <a:t>02</a:t>
            </a:r>
            <a:endParaRPr lang="en-US" sz="4800" dirty="0"/>
          </a:p>
        </p:txBody>
      </p:sp>
      <p:sp>
        <p:nvSpPr>
          <p:cNvPr id="18" name="Text 16"/>
          <p:cNvSpPr/>
          <p:nvPr/>
        </p:nvSpPr>
        <p:spPr>
          <a:xfrm>
            <a:off x="4526280" y="3657600"/>
            <a:ext cx="3108960" cy="822960"/>
          </a:xfrm>
          <a:prstGeom prst="rect">
            <a:avLst/>
          </a:prstGeom>
          <a:noFill/>
          <a:ln/>
        </p:spPr>
        <p:txBody>
          <a:bodyPr wrap="square" rtlCol="0" anchor="t"/>
          <a:lstStyle/>
          <a:p>
            <a:pPr indent="0" marL="0">
              <a:buNone/>
            </a:pPr>
            <a:r>
              <a:rPr lang="en-US" sz="1800" b="1" dirty="0">
                <a:solidFill>
                  <a:srgbClr val="0A0A0B"/>
                </a:solidFill>
                <a:latin typeface="Malgun Gothic" pitchFamily="34" charset="0"/>
                <a:ea typeface="Malgun Gothic" pitchFamily="34" charset="-122"/>
                <a:cs typeface="Malgun Gothic" pitchFamily="34" charset="-120"/>
              </a:rPr>
              <a:t>디자인을 코드보다 먼저</a:t>
            </a:r>
            <a:endParaRPr lang="en-US" sz="1800" dirty="0"/>
          </a:p>
        </p:txBody>
      </p:sp>
      <p:sp>
        <p:nvSpPr>
          <p:cNvPr id="19" name="Shape 17"/>
          <p:cNvSpPr/>
          <p:nvPr/>
        </p:nvSpPr>
        <p:spPr>
          <a:xfrm>
            <a:off x="4526280" y="4480560"/>
            <a:ext cx="731520" cy="0"/>
          </a:xfrm>
          <a:prstGeom prst="line">
            <a:avLst/>
          </a:prstGeom>
          <a:noFill/>
          <a:ln w="19050">
            <a:solidFill>
              <a:srgbClr val="0A0A0B"/>
            </a:solidFill>
            <a:prstDash val="solid"/>
          </a:ln>
        </p:spPr>
      </p:sp>
      <p:sp>
        <p:nvSpPr>
          <p:cNvPr id="20" name="Text 18"/>
          <p:cNvSpPr/>
          <p:nvPr/>
        </p:nvSpPr>
        <p:spPr>
          <a:xfrm>
            <a:off x="4526280" y="4617720"/>
            <a:ext cx="3108960" cy="1005840"/>
          </a:xfrm>
          <a:prstGeom prst="rect">
            <a:avLst/>
          </a:prstGeom>
          <a:noFill/>
          <a:ln/>
        </p:spPr>
        <p:txBody>
          <a:bodyPr wrap="square" rtlCol="0" anchor="t"/>
          <a:lstStyle/>
          <a:p>
            <a:pPr indent="0" marL="0">
              <a:buNone/>
            </a:pPr>
            <a:r>
              <a:rPr lang="en-US" sz="1200" dirty="0">
                <a:solidFill>
                  <a:srgbClr val="4B5160"/>
                </a:solidFill>
                <a:latin typeface="Malgun Gothic" pitchFamily="34" charset="0"/>
                <a:ea typeface="Malgun Gothic" pitchFamily="34" charset="-122"/>
                <a:cs typeface="Malgun Gothic" pitchFamily="34" charset="-120"/>
              </a:rPr>
              <a:t>Claude Design으로 컬러·타이포 토큰을 확정하고, Claude Code에 그 토큰값을 명시적으로 전달했다.</a:t>
            </a:r>
            <a:endParaRPr lang="en-US" sz="1200" dirty="0"/>
          </a:p>
        </p:txBody>
      </p:sp>
      <p:sp>
        <p:nvSpPr>
          <p:cNvPr id="21" name="Text 19"/>
          <p:cNvSpPr/>
          <p:nvPr/>
        </p:nvSpPr>
        <p:spPr>
          <a:xfrm>
            <a:off x="4526280" y="5623560"/>
            <a:ext cx="3108960" cy="777240"/>
          </a:xfrm>
          <a:prstGeom prst="rect">
            <a:avLst/>
          </a:prstGeom>
          <a:noFill/>
          <a:ln/>
        </p:spPr>
        <p:txBody>
          <a:bodyPr wrap="square" rtlCol="0" anchor="t"/>
          <a:lstStyle/>
          <a:p>
            <a:pPr indent="0" marL="0">
              <a:buNone/>
            </a:pPr>
            <a:r>
              <a:rPr lang="en-US" sz="1100" b="1" i="1" dirty="0">
                <a:solidFill>
                  <a:srgbClr val="0A0A0B"/>
                </a:solidFill>
                <a:latin typeface="Malgun Gothic" pitchFamily="34" charset="0"/>
                <a:ea typeface="Malgun Gothic" pitchFamily="34" charset="-122"/>
                <a:cs typeface="Malgun Gothic" pitchFamily="34" charset="-120"/>
              </a:rPr>
              <a:t>9개 화면의 일관성을 유지하는 비결은 '재생산 가능한 디자인 시스템' 한 장이다.</a:t>
            </a:r>
            <a:endParaRPr lang="en-US" sz="1100" dirty="0"/>
          </a:p>
        </p:txBody>
      </p:sp>
      <p:sp>
        <p:nvSpPr>
          <p:cNvPr id="22" name="Shape 20"/>
          <p:cNvSpPr/>
          <p:nvPr/>
        </p:nvSpPr>
        <p:spPr>
          <a:xfrm>
            <a:off x="8092440" y="2606040"/>
            <a:ext cx="3657600" cy="3840480"/>
          </a:xfrm>
          <a:prstGeom prst="rect">
            <a:avLst/>
          </a:prstGeom>
          <a:solidFill>
            <a:srgbClr val="F7F7F8"/>
          </a:solidFill>
          <a:ln w="9525">
            <a:solidFill>
              <a:srgbClr val="E1E2E5"/>
            </a:solidFill>
            <a:prstDash val="solid"/>
          </a:ln>
        </p:spPr>
      </p:sp>
      <p:sp>
        <p:nvSpPr>
          <p:cNvPr id="23" name="Text 21"/>
          <p:cNvSpPr/>
          <p:nvPr/>
        </p:nvSpPr>
        <p:spPr>
          <a:xfrm>
            <a:off x="8366760" y="2880360"/>
            <a:ext cx="1371600" cy="640080"/>
          </a:xfrm>
          <a:prstGeom prst="rect">
            <a:avLst/>
          </a:prstGeom>
          <a:noFill/>
          <a:ln/>
        </p:spPr>
        <p:txBody>
          <a:bodyPr wrap="square" rtlCol="0" anchor="ctr"/>
          <a:lstStyle/>
          <a:p>
            <a:pPr indent="0" marL="0">
              <a:buNone/>
            </a:pPr>
            <a:r>
              <a:rPr lang="en-US" sz="4800" b="1" spc="-100" kern="0" dirty="0">
                <a:solidFill>
                  <a:srgbClr val="0A0A0B"/>
                </a:solidFill>
                <a:latin typeface="Malgun Gothic" pitchFamily="34" charset="0"/>
                <a:ea typeface="Malgun Gothic" pitchFamily="34" charset="-122"/>
                <a:cs typeface="Malgun Gothic" pitchFamily="34" charset="-120"/>
              </a:rPr>
              <a:t>03</a:t>
            </a:r>
            <a:endParaRPr lang="en-US" sz="4800" dirty="0"/>
          </a:p>
        </p:txBody>
      </p:sp>
      <p:sp>
        <p:nvSpPr>
          <p:cNvPr id="24" name="Text 22"/>
          <p:cNvSpPr/>
          <p:nvPr/>
        </p:nvSpPr>
        <p:spPr>
          <a:xfrm>
            <a:off x="8366760" y="3657600"/>
            <a:ext cx="3108960" cy="822960"/>
          </a:xfrm>
          <a:prstGeom prst="rect">
            <a:avLst/>
          </a:prstGeom>
          <a:noFill/>
          <a:ln/>
        </p:spPr>
        <p:txBody>
          <a:bodyPr wrap="square" rtlCol="0" anchor="t"/>
          <a:lstStyle/>
          <a:p>
            <a:pPr indent="0" marL="0">
              <a:buNone/>
            </a:pPr>
            <a:r>
              <a:rPr lang="en-US" sz="1800" b="1" dirty="0">
                <a:solidFill>
                  <a:srgbClr val="0A0A0B"/>
                </a:solidFill>
                <a:latin typeface="Malgun Gothic" pitchFamily="34" charset="0"/>
                <a:ea typeface="Malgun Gothic" pitchFamily="34" charset="-122"/>
                <a:cs typeface="Malgun Gothic" pitchFamily="34" charset="-120"/>
              </a:rPr>
              <a:t>AI 경고를 무시하지 마라</a:t>
            </a:r>
            <a:endParaRPr lang="en-US" sz="1800" dirty="0"/>
          </a:p>
        </p:txBody>
      </p:sp>
      <p:sp>
        <p:nvSpPr>
          <p:cNvPr id="25" name="Shape 23"/>
          <p:cNvSpPr/>
          <p:nvPr/>
        </p:nvSpPr>
        <p:spPr>
          <a:xfrm>
            <a:off x="8366760" y="4480560"/>
            <a:ext cx="731520" cy="0"/>
          </a:xfrm>
          <a:prstGeom prst="line">
            <a:avLst/>
          </a:prstGeom>
          <a:noFill/>
          <a:ln w="19050">
            <a:solidFill>
              <a:srgbClr val="0A0A0B"/>
            </a:solidFill>
            <a:prstDash val="solid"/>
          </a:ln>
        </p:spPr>
      </p:sp>
      <p:sp>
        <p:nvSpPr>
          <p:cNvPr id="26" name="Text 24"/>
          <p:cNvSpPr/>
          <p:nvPr/>
        </p:nvSpPr>
        <p:spPr>
          <a:xfrm>
            <a:off x="8366760" y="4617720"/>
            <a:ext cx="3108960" cy="1005840"/>
          </a:xfrm>
          <a:prstGeom prst="rect">
            <a:avLst/>
          </a:prstGeom>
          <a:noFill/>
          <a:ln/>
        </p:spPr>
        <p:txBody>
          <a:bodyPr wrap="square" rtlCol="0" anchor="t"/>
          <a:lstStyle/>
          <a:p>
            <a:pPr indent="0" marL="0">
              <a:buNone/>
            </a:pPr>
            <a:r>
              <a:rPr lang="en-US" sz="1200" dirty="0">
                <a:solidFill>
                  <a:srgbClr val="4B5160"/>
                </a:solidFill>
                <a:latin typeface="Malgun Gothic" pitchFamily="34" charset="0"/>
                <a:ea typeface="Malgun Gothic" pitchFamily="34" charset="-122"/>
                <a:cs typeface="Malgun Gothic" pitchFamily="34" charset="-120"/>
              </a:rPr>
              <a:t>개인키가 컨텍스트에 노출됐다는 경고에 Sepolia 전용 새 지갑을 만들어 진행했다.</a:t>
            </a:r>
            <a:endParaRPr lang="en-US" sz="1200" dirty="0"/>
          </a:p>
        </p:txBody>
      </p:sp>
      <p:sp>
        <p:nvSpPr>
          <p:cNvPr id="27" name="Text 25"/>
          <p:cNvSpPr/>
          <p:nvPr/>
        </p:nvSpPr>
        <p:spPr>
          <a:xfrm>
            <a:off x="8366760" y="5623560"/>
            <a:ext cx="3108960" cy="777240"/>
          </a:xfrm>
          <a:prstGeom prst="rect">
            <a:avLst/>
          </a:prstGeom>
          <a:noFill/>
          <a:ln/>
        </p:spPr>
        <p:txBody>
          <a:bodyPr wrap="square" rtlCol="0" anchor="t"/>
          <a:lstStyle/>
          <a:p>
            <a:pPr indent="0" marL="0">
              <a:buNone/>
            </a:pPr>
            <a:r>
              <a:rPr lang="en-US" sz="1100" b="1" i="1" dirty="0">
                <a:solidFill>
                  <a:srgbClr val="0A0A0B"/>
                </a:solidFill>
                <a:latin typeface="Malgun Gothic" pitchFamily="34" charset="0"/>
                <a:ea typeface="Malgun Gothic" pitchFamily="34" charset="-122"/>
                <a:cs typeface="Malgun Gothic" pitchFamily="34" charset="-120"/>
              </a:rPr>
              <a:t>바이브 코딩에서도 보안 위생은 본인 몫. AI는 알려주지만 결정은 본인이 한다.</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274320"/>
            <a:ext cx="2743200" cy="274320"/>
          </a:xfrm>
          <a:prstGeom prst="rect">
            <a:avLst/>
          </a:prstGeom>
          <a:noFill/>
          <a:ln/>
        </p:spPr>
        <p:txBody>
          <a:bodyPr wrap="square" rtlCol="0" anchor="ctr"/>
          <a:lstStyle/>
          <a:p>
            <a:pPr indent="0" marL="0">
              <a:buNone/>
            </a:pPr>
            <a:r>
              <a:rPr lang="en-US" sz="1000" b="1" spc="200" kern="0" dirty="0">
                <a:solidFill>
                  <a:srgbClr val="888888"/>
                </a:solidFill>
                <a:latin typeface="Malgun Gothic" pitchFamily="34" charset="0"/>
                <a:ea typeface="Malgun Gothic" pitchFamily="34" charset="-122"/>
                <a:cs typeface="Malgun Gothic" pitchFamily="34" charset="-120"/>
              </a:rPr>
              <a:t>MTC Chain</a:t>
            </a:r>
            <a:endParaRPr lang="en-US" sz="1000" dirty="0"/>
          </a:p>
        </p:txBody>
      </p:sp>
      <p:sp>
        <p:nvSpPr>
          <p:cNvPr id="3" name="Text 1"/>
          <p:cNvSpPr/>
          <p:nvPr/>
        </p:nvSpPr>
        <p:spPr>
          <a:xfrm>
            <a:off x="11064240" y="274320"/>
            <a:ext cx="822960" cy="274320"/>
          </a:xfrm>
          <a:prstGeom prst="rect">
            <a:avLst/>
          </a:prstGeom>
          <a:noFill/>
          <a:ln/>
        </p:spPr>
        <p:txBody>
          <a:bodyPr wrap="square" rtlCol="0" anchor="ctr"/>
          <a:lstStyle/>
          <a:p>
            <a:pPr algn="r" indent="0" marL="0">
              <a:buNone/>
            </a:pPr>
            <a:r>
              <a:rPr lang="en-US" sz="1000" dirty="0">
                <a:solidFill>
                  <a:srgbClr val="888888"/>
                </a:solidFill>
                <a:latin typeface="Malgun Gothic" pitchFamily="34" charset="0"/>
                <a:ea typeface="Malgun Gothic" pitchFamily="34" charset="-122"/>
                <a:cs typeface="Malgun Gothic" pitchFamily="34" charset="-120"/>
              </a:rPr>
              <a:t>07 / 07</a:t>
            </a:r>
            <a:endParaRPr lang="en-US" sz="1000" dirty="0"/>
          </a:p>
        </p:txBody>
      </p:sp>
      <p:sp>
        <p:nvSpPr>
          <p:cNvPr id="4" name="Text 2"/>
          <p:cNvSpPr/>
          <p:nvPr/>
        </p:nvSpPr>
        <p:spPr>
          <a:xfrm>
            <a:off x="731520" y="1371600"/>
            <a:ext cx="10972800" cy="731520"/>
          </a:xfrm>
          <a:prstGeom prst="rect">
            <a:avLst/>
          </a:prstGeom>
          <a:noFill/>
          <a:ln/>
        </p:spPr>
        <p:txBody>
          <a:bodyPr wrap="square" rtlCol="0" anchor="ctr"/>
          <a:lstStyle/>
          <a:p>
            <a:pPr indent="0" marL="0">
              <a:buNone/>
            </a:pPr>
            <a:r>
              <a:rPr lang="en-US" sz="4000" b="1" dirty="0">
                <a:solidFill>
                  <a:srgbClr val="FFFFFF"/>
                </a:solidFill>
                <a:latin typeface="Malgun Gothic" pitchFamily="34" charset="0"/>
                <a:ea typeface="Malgun Gothic" pitchFamily="34" charset="-122"/>
                <a:cs typeface="Malgun Gothic" pitchFamily="34" charset="-120"/>
              </a:rPr>
              <a:t>강재 자재 이력의 진본성을</a:t>
            </a:r>
            <a:endParaRPr lang="en-US" sz="4000" dirty="0"/>
          </a:p>
        </p:txBody>
      </p:sp>
      <p:sp>
        <p:nvSpPr>
          <p:cNvPr id="5" name="Text 3"/>
          <p:cNvSpPr/>
          <p:nvPr/>
        </p:nvSpPr>
        <p:spPr>
          <a:xfrm>
            <a:off x="731520" y="2057400"/>
            <a:ext cx="10972800" cy="731520"/>
          </a:xfrm>
          <a:prstGeom prst="rect">
            <a:avLst/>
          </a:prstGeom>
          <a:noFill/>
          <a:ln/>
        </p:spPr>
        <p:txBody>
          <a:bodyPr wrap="square" rtlCol="0" anchor="ctr"/>
          <a:lstStyle/>
          <a:p>
            <a:pPr indent="0" marL="0">
              <a:buNone/>
            </a:pPr>
            <a:r>
              <a:rPr lang="en-US" sz="4000" b="1" dirty="0">
                <a:solidFill>
                  <a:srgbClr val="FFFFFF"/>
                </a:solidFill>
                <a:latin typeface="Malgun Gothic" pitchFamily="34" charset="0"/>
                <a:ea typeface="Malgun Gothic" pitchFamily="34" charset="-122"/>
                <a:cs typeface="Malgun Gothic" pitchFamily="34" charset="-120"/>
              </a:rPr>
              <a:t>블록체인으로 봉인합니다</a:t>
            </a:r>
            <a:endParaRPr lang="en-US" sz="4000" dirty="0"/>
          </a:p>
        </p:txBody>
      </p:sp>
      <p:sp>
        <p:nvSpPr>
          <p:cNvPr id="6" name="Shape 4"/>
          <p:cNvSpPr/>
          <p:nvPr/>
        </p:nvSpPr>
        <p:spPr>
          <a:xfrm>
            <a:off x="457200" y="3383280"/>
            <a:ext cx="3657600" cy="1188720"/>
          </a:xfrm>
          <a:prstGeom prst="rect">
            <a:avLst/>
          </a:prstGeom>
          <a:solidFill>
            <a:srgbClr val="1A1A1C"/>
          </a:solidFill>
          <a:ln w="6350">
            <a:solidFill>
              <a:srgbClr val="2A2A2D"/>
            </a:solidFill>
            <a:prstDash val="solid"/>
          </a:ln>
        </p:spPr>
      </p:sp>
      <p:sp>
        <p:nvSpPr>
          <p:cNvPr id="7" name="Text 5"/>
          <p:cNvSpPr/>
          <p:nvPr/>
        </p:nvSpPr>
        <p:spPr>
          <a:xfrm>
            <a:off x="731520" y="3547872"/>
            <a:ext cx="3108960" cy="274320"/>
          </a:xfrm>
          <a:prstGeom prst="rect">
            <a:avLst/>
          </a:prstGeom>
          <a:noFill/>
          <a:ln/>
        </p:spPr>
        <p:txBody>
          <a:bodyPr wrap="square" rtlCol="0" anchor="ctr"/>
          <a:lstStyle/>
          <a:p>
            <a:pPr indent="0" marL="0">
              <a:buNone/>
            </a:pPr>
            <a:r>
              <a:rPr lang="en-US" sz="1000" b="1" spc="300" kern="0" dirty="0">
                <a:solidFill>
                  <a:srgbClr val="666666"/>
                </a:solidFill>
                <a:latin typeface="Consolas" pitchFamily="34" charset="0"/>
                <a:ea typeface="Consolas" pitchFamily="34" charset="-122"/>
                <a:cs typeface="Consolas" pitchFamily="34" charset="-120"/>
              </a:rPr>
              <a:t>AUTHENTICITY</a:t>
            </a:r>
            <a:endParaRPr lang="en-US" sz="1000" dirty="0"/>
          </a:p>
        </p:txBody>
      </p:sp>
      <p:sp>
        <p:nvSpPr>
          <p:cNvPr id="8" name="Text 6"/>
          <p:cNvSpPr/>
          <p:nvPr/>
        </p:nvSpPr>
        <p:spPr>
          <a:xfrm>
            <a:off x="731520" y="3840480"/>
            <a:ext cx="3108960" cy="365760"/>
          </a:xfrm>
          <a:prstGeom prst="rect">
            <a:avLst/>
          </a:prstGeom>
          <a:noFill/>
          <a:ln/>
        </p:spPr>
        <p:txBody>
          <a:bodyPr wrap="square" rtlCol="0" anchor="ctr"/>
          <a:lstStyle/>
          <a:p>
            <a:pPr indent="0" marL="0">
              <a:buNone/>
            </a:pPr>
            <a:r>
              <a:rPr lang="en-US" sz="2200" b="1" dirty="0">
                <a:solidFill>
                  <a:srgbClr val="FFFFFF"/>
                </a:solidFill>
                <a:latin typeface="Malgun Gothic" pitchFamily="34" charset="0"/>
                <a:ea typeface="Malgun Gothic" pitchFamily="34" charset="-122"/>
                <a:cs typeface="Malgun Gothic" pitchFamily="34" charset="-120"/>
              </a:rPr>
              <a:t>진본성</a:t>
            </a:r>
            <a:endParaRPr lang="en-US" sz="2200" dirty="0"/>
          </a:p>
        </p:txBody>
      </p:sp>
      <p:sp>
        <p:nvSpPr>
          <p:cNvPr id="9" name="Text 7"/>
          <p:cNvSpPr/>
          <p:nvPr/>
        </p:nvSpPr>
        <p:spPr>
          <a:xfrm>
            <a:off x="731520" y="4206240"/>
            <a:ext cx="3108960" cy="320040"/>
          </a:xfrm>
          <a:prstGeom prst="rect">
            <a:avLst/>
          </a:prstGeom>
          <a:noFill/>
          <a:ln/>
        </p:spPr>
        <p:txBody>
          <a:bodyPr wrap="square" rtlCol="0" anchor="ctr"/>
          <a:lstStyle/>
          <a:p>
            <a:pPr indent="0" marL="0">
              <a:buNone/>
            </a:pPr>
            <a:r>
              <a:rPr lang="en-US" sz="1100" dirty="0">
                <a:solidFill>
                  <a:srgbClr val="AAAAAA"/>
                </a:solidFill>
                <a:latin typeface="Malgun Gothic" pitchFamily="34" charset="0"/>
                <a:ea typeface="Malgun Gothic" pitchFamily="34" charset="-122"/>
                <a:cs typeface="Malgun Gothic" pitchFamily="34" charset="-120"/>
              </a:rPr>
              <a:t>PDF 해시 온체인 봉인</a:t>
            </a:r>
            <a:endParaRPr lang="en-US" sz="1100" dirty="0"/>
          </a:p>
        </p:txBody>
      </p:sp>
      <p:sp>
        <p:nvSpPr>
          <p:cNvPr id="10" name="Shape 8"/>
          <p:cNvSpPr/>
          <p:nvPr/>
        </p:nvSpPr>
        <p:spPr>
          <a:xfrm>
            <a:off x="4251960" y="3383280"/>
            <a:ext cx="3657600" cy="1188720"/>
          </a:xfrm>
          <a:prstGeom prst="rect">
            <a:avLst/>
          </a:prstGeom>
          <a:solidFill>
            <a:srgbClr val="1A1A1C"/>
          </a:solidFill>
          <a:ln w="6350">
            <a:solidFill>
              <a:srgbClr val="2A2A2D"/>
            </a:solidFill>
            <a:prstDash val="solid"/>
          </a:ln>
        </p:spPr>
      </p:sp>
      <p:sp>
        <p:nvSpPr>
          <p:cNvPr id="11" name="Text 9"/>
          <p:cNvSpPr/>
          <p:nvPr/>
        </p:nvSpPr>
        <p:spPr>
          <a:xfrm>
            <a:off x="4526280" y="3547872"/>
            <a:ext cx="3108960" cy="274320"/>
          </a:xfrm>
          <a:prstGeom prst="rect">
            <a:avLst/>
          </a:prstGeom>
          <a:noFill/>
          <a:ln/>
        </p:spPr>
        <p:txBody>
          <a:bodyPr wrap="square" rtlCol="0" anchor="ctr"/>
          <a:lstStyle/>
          <a:p>
            <a:pPr indent="0" marL="0">
              <a:buNone/>
            </a:pPr>
            <a:r>
              <a:rPr lang="en-US" sz="1000" b="1" spc="300" kern="0" dirty="0">
                <a:solidFill>
                  <a:srgbClr val="666666"/>
                </a:solidFill>
                <a:latin typeface="Consolas" pitchFamily="34" charset="0"/>
                <a:ea typeface="Consolas" pitchFamily="34" charset="-122"/>
                <a:cs typeface="Consolas" pitchFamily="34" charset="-120"/>
              </a:rPr>
              <a:t>TRACEABILITY</a:t>
            </a:r>
            <a:endParaRPr lang="en-US" sz="1000" dirty="0"/>
          </a:p>
        </p:txBody>
      </p:sp>
      <p:sp>
        <p:nvSpPr>
          <p:cNvPr id="12" name="Text 10"/>
          <p:cNvSpPr/>
          <p:nvPr/>
        </p:nvSpPr>
        <p:spPr>
          <a:xfrm>
            <a:off x="4526280" y="3840480"/>
            <a:ext cx="3108960" cy="365760"/>
          </a:xfrm>
          <a:prstGeom prst="rect">
            <a:avLst/>
          </a:prstGeom>
          <a:noFill/>
          <a:ln/>
        </p:spPr>
        <p:txBody>
          <a:bodyPr wrap="square" rtlCol="0" anchor="ctr"/>
          <a:lstStyle/>
          <a:p>
            <a:pPr indent="0" marL="0">
              <a:buNone/>
            </a:pPr>
            <a:r>
              <a:rPr lang="en-US" sz="2200" b="1" dirty="0">
                <a:solidFill>
                  <a:srgbClr val="FFFFFF"/>
                </a:solidFill>
                <a:latin typeface="Malgun Gothic" pitchFamily="34" charset="0"/>
                <a:ea typeface="Malgun Gothic" pitchFamily="34" charset="-122"/>
                <a:cs typeface="Malgun Gothic" pitchFamily="34" charset="-120"/>
              </a:rPr>
              <a:t>추적성</a:t>
            </a:r>
            <a:endParaRPr lang="en-US" sz="2200" dirty="0"/>
          </a:p>
        </p:txBody>
      </p:sp>
      <p:sp>
        <p:nvSpPr>
          <p:cNvPr id="13" name="Text 11"/>
          <p:cNvSpPr/>
          <p:nvPr/>
        </p:nvSpPr>
        <p:spPr>
          <a:xfrm>
            <a:off x="4526280" y="4206240"/>
            <a:ext cx="3108960" cy="320040"/>
          </a:xfrm>
          <a:prstGeom prst="rect">
            <a:avLst/>
          </a:prstGeom>
          <a:noFill/>
          <a:ln/>
        </p:spPr>
        <p:txBody>
          <a:bodyPr wrap="square" rtlCol="0" anchor="ctr"/>
          <a:lstStyle/>
          <a:p>
            <a:pPr indent="0" marL="0">
              <a:buNone/>
            </a:pPr>
            <a:r>
              <a:rPr lang="en-US" sz="1100" dirty="0">
                <a:solidFill>
                  <a:srgbClr val="AAAAAA"/>
                </a:solidFill>
                <a:latin typeface="Malgun Gothic" pitchFamily="34" charset="0"/>
                <a:ea typeface="Malgun Gothic" pitchFamily="34" charset="-122"/>
                <a:cs typeface="Malgun Gothic" pitchFamily="34" charset="-120"/>
              </a:rPr>
              <a:t>부품 → 원재료 Heat 거슬러</a:t>
            </a:r>
            <a:endParaRPr lang="en-US" sz="1100" dirty="0"/>
          </a:p>
        </p:txBody>
      </p:sp>
      <p:sp>
        <p:nvSpPr>
          <p:cNvPr id="14" name="Shape 12"/>
          <p:cNvSpPr/>
          <p:nvPr/>
        </p:nvSpPr>
        <p:spPr>
          <a:xfrm>
            <a:off x="8046720" y="3383280"/>
            <a:ext cx="3657600" cy="1188720"/>
          </a:xfrm>
          <a:prstGeom prst="rect">
            <a:avLst/>
          </a:prstGeom>
          <a:solidFill>
            <a:srgbClr val="1A1A1C"/>
          </a:solidFill>
          <a:ln w="6350">
            <a:solidFill>
              <a:srgbClr val="2A2A2D"/>
            </a:solidFill>
            <a:prstDash val="solid"/>
          </a:ln>
        </p:spPr>
      </p:sp>
      <p:sp>
        <p:nvSpPr>
          <p:cNvPr id="15" name="Text 13"/>
          <p:cNvSpPr/>
          <p:nvPr/>
        </p:nvSpPr>
        <p:spPr>
          <a:xfrm>
            <a:off x="8321040" y="3547872"/>
            <a:ext cx="3108960" cy="274320"/>
          </a:xfrm>
          <a:prstGeom prst="rect">
            <a:avLst/>
          </a:prstGeom>
          <a:noFill/>
          <a:ln/>
        </p:spPr>
        <p:txBody>
          <a:bodyPr wrap="square" rtlCol="0" anchor="ctr"/>
          <a:lstStyle/>
          <a:p>
            <a:pPr indent="0" marL="0">
              <a:buNone/>
            </a:pPr>
            <a:r>
              <a:rPr lang="en-US" sz="1000" b="1" spc="300" kern="0" dirty="0">
                <a:solidFill>
                  <a:srgbClr val="666666"/>
                </a:solidFill>
                <a:latin typeface="Consolas" pitchFamily="34" charset="0"/>
                <a:ea typeface="Consolas" pitchFamily="34" charset="-122"/>
                <a:cs typeface="Consolas" pitchFamily="34" charset="-120"/>
              </a:rPr>
              <a:t>ACCOUNTABILITY</a:t>
            </a:r>
            <a:endParaRPr lang="en-US" sz="1000" dirty="0"/>
          </a:p>
        </p:txBody>
      </p:sp>
      <p:sp>
        <p:nvSpPr>
          <p:cNvPr id="16" name="Text 14"/>
          <p:cNvSpPr/>
          <p:nvPr/>
        </p:nvSpPr>
        <p:spPr>
          <a:xfrm>
            <a:off x="8321040" y="3840480"/>
            <a:ext cx="3108960" cy="365760"/>
          </a:xfrm>
          <a:prstGeom prst="rect">
            <a:avLst/>
          </a:prstGeom>
          <a:noFill/>
          <a:ln/>
        </p:spPr>
        <p:txBody>
          <a:bodyPr wrap="square" rtlCol="0" anchor="ctr"/>
          <a:lstStyle/>
          <a:p>
            <a:pPr indent="0" marL="0">
              <a:buNone/>
            </a:pPr>
            <a:r>
              <a:rPr lang="en-US" sz="2200" b="1" dirty="0">
                <a:solidFill>
                  <a:srgbClr val="FFFFFF"/>
                </a:solidFill>
                <a:latin typeface="Malgun Gothic" pitchFamily="34" charset="0"/>
                <a:ea typeface="Malgun Gothic" pitchFamily="34" charset="-122"/>
                <a:cs typeface="Malgun Gothic" pitchFamily="34" charset="-120"/>
              </a:rPr>
              <a:t>책임성</a:t>
            </a:r>
            <a:endParaRPr lang="en-US" sz="2200" dirty="0"/>
          </a:p>
        </p:txBody>
      </p:sp>
      <p:sp>
        <p:nvSpPr>
          <p:cNvPr id="17" name="Text 15"/>
          <p:cNvSpPr/>
          <p:nvPr/>
        </p:nvSpPr>
        <p:spPr>
          <a:xfrm>
            <a:off x="8321040" y="4206240"/>
            <a:ext cx="3108960" cy="320040"/>
          </a:xfrm>
          <a:prstGeom prst="rect">
            <a:avLst/>
          </a:prstGeom>
          <a:noFill/>
          <a:ln/>
        </p:spPr>
        <p:txBody>
          <a:bodyPr wrap="square" rtlCol="0" anchor="ctr"/>
          <a:lstStyle/>
          <a:p>
            <a:pPr indent="0" marL="0">
              <a:buNone/>
            </a:pPr>
            <a:r>
              <a:rPr lang="en-US" sz="1100" dirty="0">
                <a:solidFill>
                  <a:srgbClr val="AAAAAA"/>
                </a:solidFill>
                <a:latin typeface="Malgun Gothic" pitchFamily="34" charset="0"/>
                <a:ea typeface="Malgun Gothic" pitchFamily="34" charset="-122"/>
                <a:cs typeface="Malgun Gothic" pitchFamily="34" charset="-120"/>
              </a:rPr>
              <a:t>단계별 영구 서명·타임스탬프</a:t>
            </a:r>
            <a:endParaRPr lang="en-US" sz="1100" dirty="0"/>
          </a:p>
        </p:txBody>
      </p:sp>
      <p:sp>
        <p:nvSpPr>
          <p:cNvPr id="18" name="Text 16"/>
          <p:cNvSpPr/>
          <p:nvPr/>
        </p:nvSpPr>
        <p:spPr>
          <a:xfrm>
            <a:off x="731520" y="4937760"/>
            <a:ext cx="3657600" cy="274320"/>
          </a:xfrm>
          <a:prstGeom prst="rect">
            <a:avLst/>
          </a:prstGeom>
          <a:noFill/>
          <a:ln/>
        </p:spPr>
        <p:txBody>
          <a:bodyPr wrap="square" rtlCol="0" anchor="ctr"/>
          <a:lstStyle/>
          <a:p>
            <a:pPr indent="0" marL="0">
              <a:buNone/>
            </a:pPr>
            <a:r>
              <a:rPr lang="en-US" sz="900" b="1" spc="200" kern="0" dirty="0">
                <a:solidFill>
                  <a:srgbClr val="666666"/>
                </a:solidFill>
                <a:latin typeface="Consolas" pitchFamily="34" charset="0"/>
                <a:ea typeface="Consolas" pitchFamily="34" charset="-122"/>
                <a:cs typeface="Consolas" pitchFamily="34" charset="-120"/>
              </a:rPr>
              <a:t>DEPLOYED CONTRACT (Sepolia)</a:t>
            </a:r>
            <a:endParaRPr lang="en-US" sz="900" dirty="0"/>
          </a:p>
        </p:txBody>
      </p:sp>
      <p:sp>
        <p:nvSpPr>
          <p:cNvPr id="19" name="Text 17"/>
          <p:cNvSpPr/>
          <p:nvPr/>
        </p:nvSpPr>
        <p:spPr>
          <a:xfrm>
            <a:off x="731520" y="5166360"/>
            <a:ext cx="4572000" cy="320040"/>
          </a:xfrm>
          <a:prstGeom prst="rect">
            <a:avLst/>
          </a:prstGeom>
          <a:noFill/>
          <a:ln/>
        </p:spPr>
        <p:txBody>
          <a:bodyPr wrap="square" rtlCol="0" anchor="ctr"/>
          <a:lstStyle/>
          <a:p>
            <a:pPr indent="0" marL="0">
              <a:buNone/>
            </a:pPr>
            <a:r>
              <a:rPr lang="en-US" sz="1300" dirty="0">
                <a:solidFill>
                  <a:srgbClr val="FFFFFF"/>
                </a:solidFill>
                <a:latin typeface="Consolas" pitchFamily="34" charset="0"/>
                <a:ea typeface="Consolas" pitchFamily="34" charset="-122"/>
                <a:cs typeface="Consolas" pitchFamily="34" charset="-120"/>
              </a:rPr>
              <a:t>0xE1a2fb86 ... 678eDA</a:t>
            </a:r>
            <a:endParaRPr lang="en-US" sz="1300" dirty="0"/>
          </a:p>
        </p:txBody>
      </p:sp>
      <p:sp>
        <p:nvSpPr>
          <p:cNvPr id="20" name="Text 18"/>
          <p:cNvSpPr/>
          <p:nvPr/>
        </p:nvSpPr>
        <p:spPr>
          <a:xfrm>
            <a:off x="4937760" y="4937760"/>
            <a:ext cx="2743200" cy="274320"/>
          </a:xfrm>
          <a:prstGeom prst="rect">
            <a:avLst/>
          </a:prstGeom>
          <a:noFill/>
          <a:ln/>
        </p:spPr>
        <p:txBody>
          <a:bodyPr wrap="square" rtlCol="0" anchor="ctr"/>
          <a:lstStyle/>
          <a:p>
            <a:pPr indent="0" marL="0">
              <a:buNone/>
            </a:pPr>
            <a:r>
              <a:rPr lang="en-US" sz="900" b="1" spc="200" kern="0" dirty="0">
                <a:solidFill>
                  <a:srgbClr val="666666"/>
                </a:solidFill>
                <a:latin typeface="Consolas" pitchFamily="34" charset="0"/>
                <a:ea typeface="Consolas" pitchFamily="34" charset="-122"/>
                <a:cs typeface="Consolas" pitchFamily="34" charset="-120"/>
              </a:rPr>
              <a:t>REPOSITORY</a:t>
            </a:r>
            <a:endParaRPr lang="en-US" sz="900" dirty="0"/>
          </a:p>
        </p:txBody>
      </p:sp>
      <p:sp>
        <p:nvSpPr>
          <p:cNvPr id="21" name="Text 19"/>
          <p:cNvSpPr/>
          <p:nvPr/>
        </p:nvSpPr>
        <p:spPr>
          <a:xfrm>
            <a:off x="4937760" y="5166360"/>
            <a:ext cx="4572000" cy="320040"/>
          </a:xfrm>
          <a:prstGeom prst="rect">
            <a:avLst/>
          </a:prstGeom>
          <a:noFill/>
          <a:ln/>
        </p:spPr>
        <p:txBody>
          <a:bodyPr wrap="square" rtlCol="0" anchor="ctr"/>
          <a:lstStyle/>
          <a:p>
            <a:pPr indent="0" marL="0">
              <a:buNone/>
            </a:pPr>
            <a:r>
              <a:rPr lang="en-US" sz="1300" dirty="0">
                <a:solidFill>
                  <a:srgbClr val="FFFFFF"/>
                </a:solidFill>
                <a:latin typeface="Consolas" pitchFamily="34" charset="0"/>
                <a:ea typeface="Consolas" pitchFamily="34" charset="-122"/>
                <a:cs typeface="Consolas" pitchFamily="34" charset="-120"/>
              </a:rPr>
              <a:t>github.com/20233530-ijs/MTCproject</a:t>
            </a:r>
            <a:endParaRPr lang="en-US" sz="1300" dirty="0"/>
          </a:p>
        </p:txBody>
      </p:sp>
      <p:sp>
        <p:nvSpPr>
          <p:cNvPr id="22" name="Text 20"/>
          <p:cNvSpPr/>
          <p:nvPr/>
        </p:nvSpPr>
        <p:spPr>
          <a:xfrm>
            <a:off x="9326880" y="4937760"/>
            <a:ext cx="2743200" cy="274320"/>
          </a:xfrm>
          <a:prstGeom prst="rect">
            <a:avLst/>
          </a:prstGeom>
          <a:noFill/>
          <a:ln/>
        </p:spPr>
        <p:txBody>
          <a:bodyPr wrap="square" rtlCol="0" anchor="ctr"/>
          <a:lstStyle/>
          <a:p>
            <a:pPr indent="0" marL="0">
              <a:buNone/>
            </a:pPr>
            <a:r>
              <a:rPr lang="en-US" sz="900" b="1" spc="200" kern="0" dirty="0">
                <a:solidFill>
                  <a:srgbClr val="666666"/>
                </a:solidFill>
                <a:latin typeface="Consolas" pitchFamily="34" charset="0"/>
                <a:ea typeface="Consolas" pitchFamily="34" charset="-122"/>
                <a:cs typeface="Consolas" pitchFamily="34" charset="-120"/>
              </a:rPr>
              <a:t>DEMO</a:t>
            </a:r>
            <a:endParaRPr lang="en-US" sz="900" dirty="0"/>
          </a:p>
        </p:txBody>
      </p:sp>
      <p:sp>
        <p:nvSpPr>
          <p:cNvPr id="23" name="Text 21"/>
          <p:cNvSpPr/>
          <p:nvPr/>
        </p:nvSpPr>
        <p:spPr>
          <a:xfrm>
            <a:off x="9326880" y="5166360"/>
            <a:ext cx="2743200" cy="320040"/>
          </a:xfrm>
          <a:prstGeom prst="rect">
            <a:avLst/>
          </a:prstGeom>
          <a:noFill/>
          <a:ln/>
        </p:spPr>
        <p:txBody>
          <a:bodyPr wrap="square" rtlCol="0" anchor="ctr"/>
          <a:lstStyle/>
          <a:p>
            <a:pPr indent="0" marL="0">
              <a:buNone/>
            </a:pPr>
            <a:r>
              <a:rPr lang="en-US" sz="1300" dirty="0">
                <a:solidFill>
                  <a:srgbClr val="FFFFFF"/>
                </a:solidFill>
                <a:latin typeface="Consolas" pitchFamily="34" charset="0"/>
                <a:ea typeface="Consolas" pitchFamily="34" charset="-122"/>
                <a:cs typeface="Consolas" pitchFamily="34" charset="-120"/>
              </a:rPr>
              <a:t>mtc-chain.pages.dev</a:t>
            </a:r>
            <a:endParaRPr lang="en-US" sz="1300" dirty="0"/>
          </a:p>
        </p:txBody>
      </p:sp>
      <p:sp>
        <p:nvSpPr>
          <p:cNvPr id="24" name="Shape 22"/>
          <p:cNvSpPr/>
          <p:nvPr/>
        </p:nvSpPr>
        <p:spPr>
          <a:xfrm>
            <a:off x="731520" y="5852160"/>
            <a:ext cx="10698480" cy="0"/>
          </a:xfrm>
          <a:prstGeom prst="line">
            <a:avLst/>
          </a:prstGeom>
          <a:noFill/>
          <a:ln w="6350">
            <a:solidFill>
              <a:srgbClr val="333333"/>
            </a:solidFill>
            <a:prstDash val="solid"/>
          </a:ln>
        </p:spPr>
      </p:sp>
      <p:sp>
        <p:nvSpPr>
          <p:cNvPr id="25" name="Text 23"/>
          <p:cNvSpPr/>
          <p:nvPr/>
        </p:nvSpPr>
        <p:spPr>
          <a:xfrm>
            <a:off x="731520" y="6035040"/>
            <a:ext cx="7315200" cy="365760"/>
          </a:xfrm>
          <a:prstGeom prst="rect">
            <a:avLst/>
          </a:prstGeom>
          <a:noFill/>
          <a:ln/>
        </p:spPr>
        <p:txBody>
          <a:bodyPr wrap="square" rtlCol="0" anchor="ctr"/>
          <a:lstStyle/>
          <a:p>
            <a:pPr indent="0" marL="0">
              <a:buNone/>
            </a:pPr>
            <a:r>
              <a:rPr lang="en-US" sz="1800" i="1" dirty="0">
                <a:solidFill>
                  <a:srgbClr val="FFFFFF"/>
                </a:solidFill>
                <a:latin typeface="Malgun Gothic" pitchFamily="34" charset="0"/>
                <a:ea typeface="Malgun Gothic" pitchFamily="34" charset="-122"/>
                <a:cs typeface="Malgun Gothic" pitchFamily="34" charset="-120"/>
              </a:rPr>
              <a:t>감사합니다.  Thank you.</a:t>
            </a:r>
            <a:endParaRPr lang="en-US" sz="1800" dirty="0"/>
          </a:p>
        </p:txBody>
      </p:sp>
      <p:sp>
        <p:nvSpPr>
          <p:cNvPr id="26" name="Text 24"/>
          <p:cNvSpPr/>
          <p:nvPr/>
        </p:nvSpPr>
        <p:spPr>
          <a:xfrm>
            <a:off x="7772400" y="6126480"/>
            <a:ext cx="3657600" cy="274320"/>
          </a:xfrm>
          <a:prstGeom prst="rect">
            <a:avLst/>
          </a:prstGeom>
          <a:noFill/>
          <a:ln/>
        </p:spPr>
        <p:txBody>
          <a:bodyPr wrap="square" rtlCol="0" anchor="ctr"/>
          <a:lstStyle/>
          <a:p>
            <a:pPr algn="r" indent="0" marL="0">
              <a:buNone/>
            </a:pPr>
            <a:r>
              <a:rPr lang="en-US" sz="1000" dirty="0">
                <a:solidFill>
                  <a:srgbClr val="888888"/>
                </a:solidFill>
                <a:latin typeface="Malgun Gothic" pitchFamily="34" charset="0"/>
                <a:ea typeface="Malgun Gothic" pitchFamily="34" charset="-122"/>
                <a:cs typeface="Malgun Gothic" pitchFamily="34" charset="-120"/>
              </a:rPr>
              <a:t>임시우 · 20233530 · 호서대학교 ·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MTC Chain - 블록체인 기반 강재 자재 이력 시스템</dc:title>
  <dc:subject>PptxGenJS Presentation</dc:subject>
  <dc:creator>임시우</dc:creator>
  <cp:lastModifiedBy>임시우</cp:lastModifiedBy>
  <cp:revision>1</cp:revision>
  <dcterms:created xsi:type="dcterms:W3CDTF">2026-05-30T06:36:09Z</dcterms:created>
  <dcterms:modified xsi:type="dcterms:W3CDTF">2026-05-30T06:36:09Z</dcterms:modified>
</cp:coreProperties>
</file>