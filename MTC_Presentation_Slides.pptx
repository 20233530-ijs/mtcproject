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0183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45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MTC Chain  —  전체 시스템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6576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8BDF8"/>
                </a:solidFill>
              </a:rPr>
              <a:t>강재 이력 관리 시스템  ·  Ethereum Sepolia  ·  OpenZeppelin AccessControl  ·  IPFS / Pinata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182880"/>
            <a:ext cx="868680" cy="237744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3967" y="192024"/>
            <a:ext cx="8321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BDF8"/>
                </a:solidFill>
              </a:rPr>
              <a:t>Slide 1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" y="69494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8BDF8"/>
                </a:solidFill>
              </a:rPr>
              <a:t>참여자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694944"/>
            <a:ext cx="9509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</a:rPr>
              <a:t>비즈니스 플로우 (온체인 트랜잭션 흐름)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658368"/>
            <a:ext cx="18288" cy="60533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" y="960120"/>
            <a:ext cx="2157984" cy="777240"/>
          </a:xfrm>
          <a:prstGeom prst="rect">
            <a:avLst/>
          </a:prstGeom>
          <a:solidFill>
            <a:srgbClr val="141E38"/>
          </a:solidFill>
          <a:ln w="190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" y="960120"/>
            <a:ext cx="64008" cy="7772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0149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3807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4E8"/>
                </a:solidFill>
              </a:rPr>
              <a:t>DEFAULT_ADMIN_ROLE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" y="1874519"/>
            <a:ext cx="2157984" cy="777240"/>
          </a:xfrm>
          <a:prstGeom prst="rect">
            <a:avLst/>
          </a:prstGeom>
          <a:solidFill>
            <a:srgbClr val="141E38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" y="1874519"/>
            <a:ext cx="64008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293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Mill
(제강사)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2951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4E8"/>
                </a:solidFill>
              </a:rPr>
              <a:t>MILL_ROLE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" y="3108960"/>
            <a:ext cx="2157984" cy="777240"/>
          </a:xfrm>
          <a:prstGeom prst="rect">
            <a:avLst/>
          </a:prstGeom>
          <a:solidFill>
            <a:srgbClr val="141E38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" y="3108960"/>
            <a:ext cx="64008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1638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Fabricator
(가공사)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5295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4E8"/>
                </a:solidFill>
              </a:rPr>
              <a:t>FABRICATOR_ROLE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" y="4681728"/>
            <a:ext cx="2157984" cy="777240"/>
          </a:xfrm>
          <a:prstGeom prst="rect">
            <a:avLst/>
          </a:prstGeom>
          <a:solidFill>
            <a:srgbClr val="141E3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8016" y="4681728"/>
            <a:ext cx="64008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736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Integrator
(통합사)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1023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4E8"/>
                </a:solidFill>
              </a:rPr>
              <a:t>INTEGRATOR_ROLE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" y="5650992"/>
            <a:ext cx="2157984" cy="777240"/>
          </a:xfrm>
          <a:prstGeom prst="rect">
            <a:avLst/>
          </a:prstGeom>
          <a:solidFill>
            <a:srgbClr val="141E38"/>
          </a:solidFill>
          <a:ln w="19050">
            <a:solidFill>
              <a:srgbClr val="52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8016" y="5650992"/>
            <a:ext cx="64008" cy="777240"/>
          </a:xfrm>
          <a:prstGeom prst="rect">
            <a:avLst/>
          </a:prstGeom>
          <a:solidFill>
            <a:srgbClr val="52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70585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Auditor
(감사)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0716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4E8"/>
                </a:solidFill>
              </a:rPr>
              <a:t>누구나 조회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87168" y="960120"/>
            <a:ext cx="9509760" cy="758952"/>
          </a:xfrm>
          <a:prstGeom prst="rect">
            <a:avLst/>
          </a:prstGeom>
          <a:solidFill>
            <a:srgbClr val="141E38"/>
          </a:solidFill>
          <a:ln w="1524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87168" y="960120"/>
            <a:ext cx="64008" cy="7589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15184" y="1005840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① 역할 부여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1234440"/>
            <a:ext cx="9326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8BDF8"/>
                </a:solidFill>
              </a:rPr>
              <a:t>grantMill() / grantFabricator() / grantIntegrator()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1417320"/>
            <a:ext cx="932688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Admin이 각 지갑 주소에 역할 할당  →  AccessControl에 역할 등록  →  RoleGranted 이벤트 발생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7168" y="1874519"/>
            <a:ext cx="9509760" cy="896112"/>
          </a:xfrm>
          <a:prstGeom prst="rect">
            <a:avLst/>
          </a:prstGeom>
          <a:solidFill>
            <a:srgbClr val="141E38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87168" y="1874519"/>
            <a:ext cx="64008" cy="8961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1920239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② MTC 발행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2148839"/>
            <a:ext cx="9326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8BDF8"/>
                </a:solidFill>
              </a:rPr>
              <a:t>issueMtc(steelId, weight, ipfsCid, pdfHash)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5184" y="2331720"/>
            <a:ext cx="932688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PDF 생성  →  SHA-256 해시 계산  →  Pinata(IPFS) 업로드 → CID 획득
→ 컨트랙트 호출  →  SteelMinted 이벤트 (steelId·mill·weight·ipfsCid·pdfHash·timestamp)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87168" y="2907792"/>
            <a:ext cx="9509760" cy="777240"/>
          </a:xfrm>
          <a:prstGeom prst="rect">
            <a:avLst/>
          </a:prstGeom>
          <a:solidFill>
            <a:srgbClr val="141E38"/>
          </a:solidFill>
          <a:ln w="15240">
            <a:solidFill>
              <a:srgbClr val="256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87168" y="2907792"/>
            <a:ext cx="64008" cy="777240"/>
          </a:xfrm>
          <a:prstGeom prst="rect">
            <a:avLst/>
          </a:prstGeom>
          <a:solidFill>
            <a:srgbClr val="256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15184" y="2953512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③ 소유권 이전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15184" y="3182112"/>
            <a:ext cx="9326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8BDF8"/>
                </a:solidFill>
              </a:rPr>
              <a:t>transferOwnership(steelId, to)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15184" y="3364992"/>
            <a:ext cx="93268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ACTIVE 강재의 owner를 Fabricator 또는 Integrator로 변경
→ SteelOwnershipTransferred 이벤트 (from·to)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7168" y="3822191"/>
            <a:ext cx="4480560" cy="777240"/>
          </a:xfrm>
          <a:prstGeom prst="rect">
            <a:avLst/>
          </a:prstGeom>
          <a:solidFill>
            <a:srgbClr val="141E38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87168" y="3822191"/>
            <a:ext cx="64008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5184" y="3867911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④-a 강재 분할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15184" y="4096511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8BDF8"/>
                </a:solidFill>
              </a:rPr>
              <a:t>splitSteel(parentId, childWeights[])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15184" y="4279392"/>
            <a:ext cx="42976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부모 → SPLIT  /  자식 N개 ACTIVE 생성  (손실 허용 ≤ 10%)
→ SteelSplit 이벤트 (parentId·childIds[]·weights)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95744" y="3822191"/>
            <a:ext cx="4480560" cy="777240"/>
          </a:xfrm>
          <a:prstGeom prst="rect">
            <a:avLst/>
          </a:prstGeom>
          <a:solidFill>
            <a:srgbClr val="141E38"/>
          </a:solidFill>
          <a:ln w="15240">
            <a:solidFill>
              <a:srgbClr val="02B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95744" y="3822191"/>
            <a:ext cx="64008" cy="777240"/>
          </a:xfrm>
          <a:prstGeom prst="rect">
            <a:avLst/>
          </a:prstGeom>
          <a:solidFill>
            <a:srgbClr val="02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0" y="3867911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④-b 강재 조합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4096511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8BDF8"/>
                </a:solidFill>
              </a:rPr>
              <a:t>combineSteel(parentIds[], childId, weight, cid, hash)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4279392"/>
            <a:ext cx="42976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부모들 → COMBINED  /  자식 1개 ACTIVE 생성  (손실 허용 ≤ 15%)
→ SteelCombined 이벤트 (parentIds[]·childId·weights)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87168" y="4736592"/>
            <a:ext cx="9509760" cy="777240"/>
          </a:xfrm>
          <a:prstGeom prst="rect">
            <a:avLst/>
          </a:prstGeom>
          <a:solidFill>
            <a:srgbClr val="141E38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87168" y="4736592"/>
            <a:ext cx="64008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15184" y="4782312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⑤ 사용 등록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15184" y="5010912"/>
            <a:ext cx="9326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8BDF8"/>
                </a:solidFill>
              </a:rPr>
              <a:t>markAsUsed(steelId, productId)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15184" y="5193792"/>
            <a:ext cx="93268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상태 ACTIVE → USED  (불가역)  /  productMap[productId] = steelId 저장
→ SteelUsed 이벤트 (steelId·productId·integrator)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87168" y="5650992"/>
            <a:ext cx="9509760" cy="640080"/>
          </a:xfrm>
          <a:prstGeom prst="rect">
            <a:avLst/>
          </a:prstGeom>
          <a:solidFill>
            <a:srgbClr val="141E38"/>
          </a:solidFill>
          <a:ln w="15240">
            <a:solidFill>
              <a:srgbClr val="526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87168" y="5650992"/>
            <a:ext cx="64008" cy="640080"/>
          </a:xfrm>
          <a:prstGeom prst="rect">
            <a:avLst/>
          </a:prstGeom>
          <a:solidFill>
            <a:srgbClr val="526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15184" y="5696712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⑥ 이력 조회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15184" y="5925312"/>
            <a:ext cx="9326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8BDF8"/>
                </a:solidFill>
              </a:rPr>
              <a:t>getSteel() / getParents() / getChildren() / getSteelByProduct()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15184" y="6108192"/>
            <a:ext cx="9326880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재귀 트리 탐색으로 Ancestry 시각화  /  IPFS CID로 PDF 원본 다운로드 후 pdfHash(SHA-256) 검증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242048" y="1737360"/>
            <a:ext cx="0" cy="118871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242048" y="2788920"/>
            <a:ext cx="0" cy="118871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242048" y="3703320"/>
            <a:ext cx="0" cy="118871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42048" y="3703320"/>
            <a:ext cx="0" cy="118871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242048" y="4599432"/>
            <a:ext cx="0" cy="13716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242048" y="5513832"/>
            <a:ext cx="0" cy="13716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123176" y="379476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D97706"/>
                </a:solidFill>
              </a:rPr>
              <a:t>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0183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4592" y="6510528"/>
            <a:ext cx="1188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38BDF8"/>
                </a:solidFill>
              </a:rPr>
              <a:t>상태 머신:  ACTIVE  →  SPLIT  |  COMBINED  |  USED  (모든 전이 불가역)    ·  역할 검증 실패 시  AccessControlUnauthorizedAccount  revert    ·  온체인 pdfHash(bytes32) = SHA-256 불변 보장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0183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45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MTC Chain  —  기술 스택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365760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8BDF8"/>
                </a:solidFill>
              </a:rPr>
              <a:t>5-Layer  풀스택 블록체인 dApp  ·  Ethereum Sepolia  ·  Cloudflare Edge  ·  IPFS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182880"/>
            <a:ext cx="868680" cy="237744"/>
          </a:xfrm>
          <a:prstGeom prst="rect">
            <a:avLst/>
          </a:prstGeom>
          <a:solidFill>
            <a:srgbClr val="1E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73967" y="192024"/>
            <a:ext cx="83210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8BDF8"/>
                </a:solidFill>
              </a:rPr>
              <a:t>Slide 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" y="731520"/>
            <a:ext cx="11932920" cy="868680"/>
          </a:xfrm>
          <a:prstGeom prst="rect">
            <a:avLst/>
          </a:prstGeom>
          <a:solidFill>
            <a:srgbClr val="141E38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" y="731520"/>
            <a:ext cx="1389888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8046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051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사용자 계층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2618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D0E8FF"/>
                </a:solidFill>
              </a:rPr>
              <a:t>User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0784" y="795528"/>
            <a:ext cx="2578608" cy="740664"/>
          </a:xfrm>
          <a:prstGeom prst="rect">
            <a:avLst/>
          </a:prstGeom>
          <a:solidFill>
            <a:srgbClr val="0D1426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00784" y="795528"/>
            <a:ext cx="45720" cy="7406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0512" y="841248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MetaMask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1088136"/>
            <a:ext cx="241401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트랜잭션 서명 (EIP-155)
Sepolia ETH 가스 지불
계정 주소 = 역할 식별자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" y="1719072"/>
            <a:ext cx="11932920" cy="1298448"/>
          </a:xfrm>
          <a:prstGeom prst="rect">
            <a:avLst/>
          </a:prstGeom>
          <a:solidFill>
            <a:srgbClr val="141E38"/>
          </a:solidFill>
          <a:ln w="15240">
            <a:solidFill>
              <a:srgbClr val="068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" y="1719072"/>
            <a:ext cx="1389888" cy="1298448"/>
          </a:xfrm>
          <a:prstGeom prst="rect">
            <a:avLst/>
          </a:prstGeom>
          <a:solidFill>
            <a:srgbClr val="06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17922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2039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프론트엔드 계층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224942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D0E8FF"/>
                </a:solidFill>
              </a:rPr>
              <a:t>Frontend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0784" y="1783080"/>
            <a:ext cx="2578608" cy="1170431"/>
          </a:xfrm>
          <a:prstGeom prst="rect">
            <a:avLst/>
          </a:prstGeom>
          <a:solidFill>
            <a:srgbClr val="0D1426"/>
          </a:solidFill>
          <a:ln w="7620">
            <a:solidFill>
              <a:srgbClr val="068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00784" y="1783080"/>
            <a:ext cx="45720" cy="1170431"/>
          </a:xfrm>
          <a:prstGeom prst="rect">
            <a:avLst/>
          </a:prstGeom>
          <a:solidFill>
            <a:srgbClr val="06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1828800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React 18 + Vite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2075688"/>
            <a:ext cx="2414015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SPA 라우팅 (React Router v6)
Tailwind CSS 3  스타일링
Vite HMR 개발 서버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3984" y="1783080"/>
            <a:ext cx="2578608" cy="1170431"/>
          </a:xfrm>
          <a:prstGeom prst="rect">
            <a:avLst/>
          </a:prstGeom>
          <a:solidFill>
            <a:srgbClr val="0D1426"/>
          </a:solidFill>
          <a:ln w="7620">
            <a:solidFill>
              <a:srgbClr val="068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3984" y="1783080"/>
            <a:ext cx="45720" cy="1170431"/>
          </a:xfrm>
          <a:prstGeom prst="rect">
            <a:avLst/>
          </a:prstGeom>
          <a:solidFill>
            <a:srgbClr val="06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1828800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ethers.js  v6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075688"/>
            <a:ext cx="2414015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Contract 인터페이스 연결
ABI 인코딩 / 이벤트 파싱
provider · signer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87184" y="1783080"/>
            <a:ext cx="2578608" cy="1170431"/>
          </a:xfrm>
          <a:prstGeom prst="rect">
            <a:avLst/>
          </a:prstGeom>
          <a:solidFill>
            <a:srgbClr val="0D1426"/>
          </a:solidFill>
          <a:ln w="7620">
            <a:solidFill>
              <a:srgbClr val="068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87184" y="1783080"/>
            <a:ext cx="45720" cy="1170431"/>
          </a:xfrm>
          <a:prstGeom prst="rect">
            <a:avLst/>
          </a:prstGeom>
          <a:solidFill>
            <a:srgbClr val="06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1828800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React Flow  v11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075688"/>
            <a:ext cx="2414015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Ancestry Tree 시각화
강재 이력 DAG 렌더링
노드/엣지 인터랙티브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30384" y="1783080"/>
            <a:ext cx="2578608" cy="1170431"/>
          </a:xfrm>
          <a:prstGeom prst="rect">
            <a:avLst/>
          </a:prstGeom>
          <a:solidFill>
            <a:srgbClr val="0D1426"/>
          </a:solidFill>
          <a:ln w="7620">
            <a:solidFill>
              <a:srgbClr val="068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30384" y="1783080"/>
            <a:ext cx="45720" cy="1170431"/>
          </a:xfrm>
          <a:prstGeom prst="rect">
            <a:avLst/>
          </a:prstGeom>
          <a:solidFill>
            <a:srgbClr val="068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0111" y="1828800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Cloudflare Pages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1" y="2075688"/>
            <a:ext cx="2414015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정적 빌드 배포 (CDN)
mtc-chain.pages.dev
CI/CD 자동 배포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" y="3136392"/>
            <a:ext cx="11932920" cy="914400"/>
          </a:xfrm>
          <a:prstGeom prst="rect">
            <a:avLst/>
          </a:prstGeom>
          <a:solidFill>
            <a:srgbClr val="141E38"/>
          </a:solidFill>
          <a:ln w="15240">
            <a:solidFill>
              <a:srgbClr val="F48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8016" y="3136392"/>
            <a:ext cx="1389888" cy="914400"/>
          </a:xfrm>
          <a:prstGeom prst="rect">
            <a:avLst/>
          </a:prstGeom>
          <a:solidFill>
            <a:srgbClr val="F48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3209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" y="34564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미들웨어 계층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" y="366674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D0E8FF"/>
                </a:solidFill>
              </a:rPr>
              <a:t>Middleware Layer  (Edge)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00784" y="3200400"/>
            <a:ext cx="2578608" cy="786384"/>
          </a:xfrm>
          <a:prstGeom prst="rect">
            <a:avLst/>
          </a:prstGeom>
          <a:solidFill>
            <a:srgbClr val="0D1426"/>
          </a:solidFill>
          <a:ln w="7620">
            <a:solidFill>
              <a:srgbClr val="F48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00784" y="3200400"/>
            <a:ext cx="45720" cy="786384"/>
          </a:xfrm>
          <a:prstGeom prst="rect">
            <a:avLst/>
          </a:prstGeom>
          <a:solidFill>
            <a:srgbClr val="F48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10512" y="3246120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Cloudflare Workers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10512" y="3493008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API Proxy  (CORS 처리)
Pinata API Key 보호
비밀키 환경변수 격리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43984" y="3200400"/>
            <a:ext cx="2578608" cy="786384"/>
          </a:xfrm>
          <a:prstGeom prst="rect">
            <a:avLst/>
          </a:prstGeom>
          <a:solidFill>
            <a:srgbClr val="0D1426"/>
          </a:solidFill>
          <a:ln w="7620">
            <a:solidFill>
              <a:srgbClr val="F48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43984" y="3200400"/>
            <a:ext cx="45720" cy="786384"/>
          </a:xfrm>
          <a:prstGeom prst="rect">
            <a:avLst/>
          </a:prstGeom>
          <a:solidFill>
            <a:srgbClr val="F48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3246120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Cloudflare KV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3493008"/>
            <a:ext cx="24140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productId 메타데이터 저장
Key-Value 엣지 캐시
전세계 분산 저장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016" y="4169663"/>
            <a:ext cx="11932920" cy="1463040"/>
          </a:xfrm>
          <a:prstGeom prst="rect">
            <a:avLst/>
          </a:prstGeom>
          <a:solidFill>
            <a:srgbClr val="141E38"/>
          </a:solidFill>
          <a:ln w="15240">
            <a:solidFill>
              <a:srgbClr val="62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8016" y="4169663"/>
            <a:ext cx="1389888" cy="1463040"/>
          </a:xfrm>
          <a:prstGeom prst="rect">
            <a:avLst/>
          </a:prstGeom>
          <a:solidFill>
            <a:srgbClr val="62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42428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448970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블록체인 계층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" y="470001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D0E8FF"/>
                </a:solidFill>
              </a:rPr>
              <a:t>Blockchain Layer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784" y="4233672"/>
            <a:ext cx="2578608" cy="1335024"/>
          </a:xfrm>
          <a:prstGeom prst="rect">
            <a:avLst/>
          </a:prstGeom>
          <a:solidFill>
            <a:srgbClr val="0D1426"/>
          </a:solidFill>
          <a:ln w="7620">
            <a:solidFill>
              <a:srgbClr val="62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00784" y="4233672"/>
            <a:ext cx="45720" cy="1335024"/>
          </a:xfrm>
          <a:prstGeom prst="rect">
            <a:avLst/>
          </a:prstGeom>
          <a:solidFill>
            <a:srgbClr val="62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10512" y="4279392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Ethereum Sepolia
(테스트넷)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10512" y="4526280"/>
            <a:ext cx="2414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EVM 호환 퍼블릭 체인
PoS 합의 알고리즘
블록 탐색기: Etherscan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43984" y="4233672"/>
            <a:ext cx="2578608" cy="1335024"/>
          </a:xfrm>
          <a:prstGeom prst="rect">
            <a:avLst/>
          </a:prstGeom>
          <a:solidFill>
            <a:srgbClr val="0D1426"/>
          </a:solidFill>
          <a:ln w="7620">
            <a:solidFill>
              <a:srgbClr val="62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43984" y="4233672"/>
            <a:ext cx="45720" cy="1335024"/>
          </a:xfrm>
          <a:prstGeom prst="rect">
            <a:avLst/>
          </a:prstGeom>
          <a:solidFill>
            <a:srgbClr val="62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53712" y="4279392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MtcRegistry.sol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4526280"/>
            <a:ext cx="2414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Solidity ^0.8.24
OpenZeppelin AccessControl v5
커스텀 에러·이벤트 5종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87184" y="4233672"/>
            <a:ext cx="2578608" cy="1335024"/>
          </a:xfrm>
          <a:prstGeom prst="rect">
            <a:avLst/>
          </a:prstGeom>
          <a:solidFill>
            <a:srgbClr val="0D1426"/>
          </a:solidFill>
          <a:ln w="7620">
            <a:solidFill>
              <a:srgbClr val="62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87184" y="4233672"/>
            <a:ext cx="45720" cy="1335024"/>
          </a:xfrm>
          <a:prstGeom prst="rect">
            <a:avLst/>
          </a:prstGeom>
          <a:solidFill>
            <a:srgbClr val="62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4279392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스마트 컨트랙트
핵심 함수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96912" y="4526280"/>
            <a:ext cx="2414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issueMtc  ·  transferOwnership
splitSteel  ·  combineSteel
markAsUsed  ·  getSteel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30384" y="4233672"/>
            <a:ext cx="2578608" cy="1335024"/>
          </a:xfrm>
          <a:prstGeom prst="rect">
            <a:avLst/>
          </a:prstGeom>
          <a:solidFill>
            <a:srgbClr val="0D1426"/>
          </a:solidFill>
          <a:ln w="7620">
            <a:solidFill>
              <a:srgbClr val="62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30384" y="4233672"/>
            <a:ext cx="45720" cy="1335024"/>
          </a:xfrm>
          <a:prstGeom prst="rect">
            <a:avLst/>
          </a:prstGeom>
          <a:solidFill>
            <a:srgbClr val="62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40111" y="4279392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온체인 데이터 구조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40111" y="4526280"/>
            <a:ext cx="2414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struct Steel  { steelId·weight
  ipfsCid·pdfHash·status
  mill·owner·parentIds·childIds 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8016" y="5751576"/>
            <a:ext cx="11932920" cy="822960"/>
          </a:xfrm>
          <a:prstGeom prst="rect">
            <a:avLst/>
          </a:prstGeom>
          <a:solidFill>
            <a:srgbClr val="141E38"/>
          </a:solidFill>
          <a:ln w="15240">
            <a:solidFill>
              <a:srgbClr val="11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8016" y="5751576"/>
            <a:ext cx="1389888" cy="822960"/>
          </a:xfrm>
          <a:prstGeom prst="rect">
            <a:avLst/>
          </a:prstGeom>
          <a:solidFill>
            <a:srgbClr val="11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2880" y="58247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" y="6071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저장소 계층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" y="62819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D0E8FF"/>
                </a:solidFill>
              </a:rPr>
              <a:t>Storage Layer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00784" y="5815584"/>
            <a:ext cx="2578608" cy="694944"/>
          </a:xfrm>
          <a:prstGeom prst="rect">
            <a:avLst/>
          </a:prstGeom>
          <a:solidFill>
            <a:srgbClr val="0D1426"/>
          </a:solidFill>
          <a:ln w="7620">
            <a:solidFill>
              <a:srgbClr val="11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700784" y="5815584"/>
            <a:ext cx="45720" cy="694944"/>
          </a:xfrm>
          <a:prstGeom prst="rect">
            <a:avLst/>
          </a:prstGeom>
          <a:solidFill>
            <a:srgbClr val="11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10512" y="5861304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IPFS  /  Pinata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10512" y="610819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MTC PDF 원본 분산 저장
CID(Content Identifier) 반환
불변성 보장 (내용 기반 주소)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443984" y="5815584"/>
            <a:ext cx="2578608" cy="694944"/>
          </a:xfrm>
          <a:prstGeom prst="rect">
            <a:avLst/>
          </a:prstGeom>
          <a:solidFill>
            <a:srgbClr val="0D1426"/>
          </a:solidFill>
          <a:ln w="7620">
            <a:solidFill>
              <a:srgbClr val="119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43984" y="5815584"/>
            <a:ext cx="45720" cy="694944"/>
          </a:xfrm>
          <a:prstGeom prst="rect">
            <a:avLst/>
          </a:prstGeom>
          <a:solidFill>
            <a:srgbClr val="119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53712" y="5861304"/>
            <a:ext cx="24140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온체인 해시 검증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53712" y="6108192"/>
            <a:ext cx="2414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8D4E8"/>
                </a:solidFill>
              </a:rPr>
              <a:t>pdfHash(bytes32) = SHA-256
원본 무결성 검증 가능
위변조 불가 증명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00100" y="1600200"/>
            <a:ext cx="0" cy="59436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" y="1659636"/>
            <a:ext cx="0" cy="0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0100" y="3017520"/>
            <a:ext cx="0" cy="59436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00100" y="3076956"/>
            <a:ext cx="0" cy="0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00100" y="4050791"/>
            <a:ext cx="0" cy="59436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00100" y="4110227"/>
            <a:ext cx="0" cy="0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00100" y="5632704"/>
            <a:ext cx="0" cy="59436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00100" y="5692140"/>
            <a:ext cx="0" cy="0"/>
          </a:xfrm>
          <a:prstGeom prst="line">
            <a:avLst/>
          </a:prstGeom>
          <a:ln w="15240">
            <a:solidFill>
              <a:srgbClr val="3A5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01830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4592" y="6510528"/>
            <a:ext cx="1188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38BDF8"/>
                </a:solidFill>
              </a:rPr>
              <a:t>Hardhat  컴파일 · 배포  (npx hardhat deploy --network sepolia)    ·  OpenZeppelin v5 AccessControl  상속    ·  ethers.js v6  Contract.connect(signer)    ·  Pinata SDK  pinFileToIPFS()  →  IPFS CID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